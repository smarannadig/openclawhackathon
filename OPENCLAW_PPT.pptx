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embeddedFontLst>
    <p:embeddedFont>
      <p:font typeface="Overlock"/>
      <p:regular r:id="rId25"/>
      <p:bold r:id="rId26"/>
      <p:italic r:id="rId27"/>
      <p:boldItalic r:id="rId28"/>
    </p:embeddedFont>
    <p:embeddedFont>
      <p:font typeface="Inter"/>
      <p:bold r:id="rId29"/>
      <p:boldItalic r:id="rId30"/>
    </p:embeddedFont>
    <p:embeddedFont>
      <p:font typeface="Inter ExtraBold"/>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671E57A-B4BF-48B9-B9EE-2CDAF63EE442}">
  <a:tblStyle styleId="{C671E57A-B4BF-48B9-B9EE-2CDAF63EE44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verlock-bold.fntdata"/><Relationship Id="rId25" Type="http://schemas.openxmlformats.org/officeDocument/2006/relationships/font" Target="fonts/Overlock-regular.fntdata"/><Relationship Id="rId28" Type="http://schemas.openxmlformats.org/officeDocument/2006/relationships/font" Target="fonts/Overlock-boldItalic.fntdata"/><Relationship Id="rId27" Type="http://schemas.openxmlformats.org/officeDocument/2006/relationships/font" Target="fonts/Overlock-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ExtraBold-bold.fntdata"/><Relationship Id="rId30" Type="http://schemas.openxmlformats.org/officeDocument/2006/relationships/font" Target="fonts/Inter-boldItalic.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InterExtraBold-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f9dea8820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g3df9dea8820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g3df9dea8820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f9dea8820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g3df9dea8820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g3df9dea8820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f9dea8820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df9dea8820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3df9dea8820_0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f9dea8820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3df9dea8820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df9dea8820_0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f9dea8820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3df9dea8820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g3df9dea8820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f9dea8820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g3df9dea8820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3df9dea8820_0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f9dea8820_0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df9dea8820_0_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3df9dea8820_0_1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f9dea8820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3df9dea8820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3df9dea8820_0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f9dea8820_0_5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df9dea8820_0_5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3df9dea8820_0_5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f9dea8820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3df9dea8820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df9dea8820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f9dea8820_0_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g3df9dea8820_0_1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3df9dea8820_0_1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df9dea8820_0_5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3df9dea8820_0_5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3df9dea8820_0_5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f9dea8820_0_5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3df9dea8820_0_5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3df9dea8820_0_5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f9dea8820_0_5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df9dea8820_0_5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g3df9dea8820_0_5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df9dea8820_0_5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3df9dea8820_0_5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3df9dea8820_0_5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df9dea8820_0_5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g3df9dea8820_0_5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g3df9dea8820_0_5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1"/>
          <p:cNvSpPr/>
          <p:nvPr>
            <p:ph idx="2" type="pic"/>
          </p:nvPr>
        </p:nvSpPr>
        <p:spPr>
          <a:xfrm>
            <a:off x="5183188" y="987425"/>
            <a:ext cx="6172200" cy="4873625"/>
          </a:xfrm>
          <a:prstGeom prst="rect">
            <a:avLst/>
          </a:prstGeom>
          <a:noFill/>
          <a:ln>
            <a:noFill/>
          </a:ln>
        </p:spPr>
      </p:sp>
      <p:sp>
        <p:nvSpPr>
          <p:cNvPr id="69" name="Google Shape;69;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drive.google.com/file/d/1Aa865vZT10bvfQaSYPnY8jEtyCLHJ0ZA/view?usp=drivesd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4"/>
          <p:cNvPicPr preferRelativeResize="0"/>
          <p:nvPr/>
        </p:nvPicPr>
        <p:blipFill rotWithShape="1">
          <a:blip r:embed="rId3">
            <a:alphaModFix/>
          </a:blip>
          <a:srcRect b="40504" l="35216" r="35722" t="9860"/>
          <a:stretch/>
        </p:blipFill>
        <p:spPr>
          <a:xfrm>
            <a:off x="7372538" y="1619794"/>
            <a:ext cx="4421349" cy="5638238"/>
          </a:xfrm>
          <a:prstGeom prst="rect">
            <a:avLst/>
          </a:prstGeom>
          <a:noFill/>
          <a:ln>
            <a:noFill/>
          </a:ln>
        </p:spPr>
      </p:pic>
      <p:sp>
        <p:nvSpPr>
          <p:cNvPr id="90" name="Google Shape;90;p14"/>
          <p:cNvSpPr txBox="1"/>
          <p:nvPr/>
        </p:nvSpPr>
        <p:spPr>
          <a:xfrm>
            <a:off x="0" y="604461"/>
            <a:ext cx="2182586"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2000" u="none" cap="none" strike="noStrike">
                <a:solidFill>
                  <a:schemeClr val="dk1"/>
                </a:solidFill>
                <a:latin typeface="Overlock"/>
                <a:ea typeface="Overlock"/>
                <a:cs typeface="Overlock"/>
                <a:sym typeface="Overlock"/>
              </a:rPr>
              <a:t>CLASH OF THE</a:t>
            </a:r>
            <a:endParaRPr b="1" i="0" sz="2000" u="none" cap="none" strike="noStrike">
              <a:solidFill>
                <a:srgbClr val="E81B25"/>
              </a:solidFill>
              <a:latin typeface="Overlock"/>
              <a:ea typeface="Overlock"/>
              <a:cs typeface="Overlock"/>
              <a:sym typeface="Overlock"/>
            </a:endParaRPr>
          </a:p>
        </p:txBody>
      </p:sp>
      <p:sp>
        <p:nvSpPr>
          <p:cNvPr id="91" name="Google Shape;91;p14"/>
          <p:cNvSpPr txBox="1"/>
          <p:nvPr/>
        </p:nvSpPr>
        <p:spPr>
          <a:xfrm>
            <a:off x="1756232" y="436120"/>
            <a:ext cx="209116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600" u="none" cap="none" strike="noStrike">
                <a:solidFill>
                  <a:srgbClr val="E81B25"/>
                </a:solidFill>
                <a:latin typeface="Overlock"/>
                <a:ea typeface="Overlock"/>
                <a:cs typeface="Overlock"/>
                <a:sym typeface="Overlock"/>
              </a:rPr>
              <a:t>CLAWS</a:t>
            </a:r>
            <a:endParaRPr b="0" i="0" sz="3600" u="none" cap="none" strike="noStrike">
              <a:solidFill>
                <a:schemeClr val="dk1"/>
              </a:solidFill>
              <a:latin typeface="Overlock"/>
              <a:ea typeface="Overlock"/>
              <a:cs typeface="Overlock"/>
              <a:sym typeface="Overlock"/>
            </a:endParaRPr>
          </a:p>
        </p:txBody>
      </p:sp>
      <p:sp>
        <p:nvSpPr>
          <p:cNvPr id="92" name="Google Shape;92;p14"/>
          <p:cNvSpPr txBox="1"/>
          <p:nvPr/>
        </p:nvSpPr>
        <p:spPr>
          <a:xfrm>
            <a:off x="646300" y="1328520"/>
            <a:ext cx="7049400" cy="504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4000">
                <a:solidFill>
                  <a:srgbClr val="E81B25"/>
                </a:solidFill>
                <a:latin typeface="Overlock"/>
                <a:ea typeface="Overlock"/>
                <a:cs typeface="Overlock"/>
                <a:sym typeface="Overlock"/>
              </a:rPr>
              <a:t>WarDaddy</a:t>
            </a:r>
            <a:endParaRPr/>
          </a:p>
          <a:p>
            <a:pPr indent="0" lvl="0" marL="0" marR="0" rtl="0" algn="ctr">
              <a:spcBef>
                <a:spcPts val="0"/>
              </a:spcBef>
              <a:spcAft>
                <a:spcPts val="0"/>
              </a:spcAft>
              <a:buNone/>
            </a:pPr>
            <a:r>
              <a:rPr b="1" lang="en-IN" sz="4000">
                <a:solidFill>
                  <a:srgbClr val="E81B25"/>
                </a:solidFill>
                <a:latin typeface="Overlock"/>
                <a:ea typeface="Overlock"/>
                <a:cs typeface="Overlock"/>
                <a:sym typeface="Overlock"/>
              </a:rPr>
              <a:t>Full-Stack Research Intelligence Dashboard</a:t>
            </a:r>
            <a:endParaRPr/>
          </a:p>
          <a:p>
            <a:pPr indent="0" lvl="0" marL="0" marR="0" rtl="0" algn="ctr">
              <a:spcBef>
                <a:spcPts val="0"/>
              </a:spcBef>
              <a:spcAft>
                <a:spcPts val="0"/>
              </a:spcAft>
              <a:buNone/>
            </a:pPr>
            <a:r>
              <a:t/>
            </a:r>
            <a:endParaRPr b="1" i="0" sz="4000" u="none" cap="none" strike="noStrike">
              <a:solidFill>
                <a:srgbClr val="E81B25"/>
              </a:solidFill>
              <a:latin typeface="Overlock"/>
              <a:ea typeface="Overlock"/>
              <a:cs typeface="Overlock"/>
              <a:sym typeface="Overlock"/>
            </a:endParaRPr>
          </a:p>
          <a:p>
            <a:pPr indent="0" lvl="0" marL="0" marR="0" rtl="0" algn="ctr">
              <a:spcBef>
                <a:spcPts val="0"/>
              </a:spcBef>
              <a:spcAft>
                <a:spcPts val="0"/>
              </a:spcAft>
              <a:buNone/>
            </a:pPr>
            <a:r>
              <a:rPr b="1" lang="en-IN" sz="4000">
                <a:solidFill>
                  <a:schemeClr val="dk2"/>
                </a:solidFill>
                <a:latin typeface="Overlock"/>
                <a:ea typeface="Overlock"/>
                <a:cs typeface="Overlock"/>
                <a:sym typeface="Overlock"/>
              </a:rPr>
              <a:t>Srujan Nadig - Smaran Nadig - Sohan Sridhar - Yuvaraj Gopi</a:t>
            </a:r>
            <a:endParaRPr b="1" sz="4000">
              <a:solidFill>
                <a:schemeClr val="dk2"/>
              </a:solidFill>
              <a:latin typeface="Overlock"/>
              <a:ea typeface="Overlock"/>
              <a:cs typeface="Overlock"/>
              <a:sym typeface="Overlock"/>
            </a:endParaRPr>
          </a:p>
          <a:p>
            <a:pPr indent="0" lvl="0" marL="0" marR="0" rtl="0" algn="ctr">
              <a:spcBef>
                <a:spcPts val="0"/>
              </a:spcBef>
              <a:spcAft>
                <a:spcPts val="0"/>
              </a:spcAft>
              <a:buNone/>
            </a:pPr>
            <a:r>
              <a:rPr b="1" lang="en-IN" sz="4100">
                <a:solidFill>
                  <a:schemeClr val="dk2"/>
                </a:solidFill>
                <a:latin typeface="Overlock"/>
                <a:ea typeface="Overlock"/>
                <a:cs typeface="Overlock"/>
                <a:sym typeface="Overlock"/>
              </a:rPr>
              <a:t>R V College of Engineering</a:t>
            </a:r>
            <a:br>
              <a:rPr b="1" i="0" lang="en-IN" sz="4100" u="none" cap="none" strike="noStrike">
                <a:solidFill>
                  <a:schemeClr val="dk2"/>
                </a:solidFill>
                <a:latin typeface="Overlock"/>
                <a:ea typeface="Overlock"/>
                <a:cs typeface="Overlock"/>
                <a:sym typeface="Overlock"/>
              </a:rPr>
            </a:br>
            <a:endParaRPr b="1" i="0" sz="4100" u="none" cap="none" strike="noStrike">
              <a:solidFill>
                <a:schemeClr val="dk2"/>
              </a:solidFill>
              <a:latin typeface="Overlock"/>
              <a:ea typeface="Overlock"/>
              <a:cs typeface="Overlock"/>
              <a:sym typeface="Overlock"/>
            </a:endParaRPr>
          </a:p>
        </p:txBody>
      </p:sp>
      <p:grpSp>
        <p:nvGrpSpPr>
          <p:cNvPr id="93" name="Google Shape;93;p14"/>
          <p:cNvGrpSpPr/>
          <p:nvPr/>
        </p:nvGrpSpPr>
        <p:grpSpPr>
          <a:xfrm>
            <a:off x="137355" y="46746"/>
            <a:ext cx="3814159" cy="639045"/>
            <a:chOff x="137355" y="133834"/>
            <a:chExt cx="3814159" cy="639045"/>
          </a:xfrm>
        </p:grpSpPr>
        <p:pic>
          <p:nvPicPr>
            <p:cNvPr id="94" name="Google Shape;94;p14"/>
            <p:cNvPicPr preferRelativeResize="0"/>
            <p:nvPr/>
          </p:nvPicPr>
          <p:blipFill rotWithShape="1">
            <a:blip r:embed="rId4">
              <a:alphaModFix/>
            </a:blip>
            <a:srcRect b="0" l="0" r="0" t="0"/>
            <a:stretch/>
          </p:blipFill>
          <p:spPr>
            <a:xfrm>
              <a:off x="137355" y="133834"/>
              <a:ext cx="974396" cy="639045"/>
            </a:xfrm>
            <a:prstGeom prst="rect">
              <a:avLst/>
            </a:prstGeom>
            <a:noFill/>
            <a:ln>
              <a:noFill/>
            </a:ln>
          </p:spPr>
        </p:pic>
        <p:sp>
          <p:nvSpPr>
            <p:cNvPr id="95" name="Google Shape;95;p14"/>
            <p:cNvSpPr txBox="1"/>
            <p:nvPr/>
          </p:nvSpPr>
          <p:spPr>
            <a:xfrm>
              <a:off x="1017814" y="244337"/>
              <a:ext cx="29337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1800" u="none" cap="none" strike="noStrike">
                  <a:solidFill>
                    <a:schemeClr val="dk1"/>
                  </a:solidFill>
                  <a:latin typeface="Overlock"/>
                  <a:ea typeface="Overlock"/>
                  <a:cs typeface="Overlock"/>
                  <a:sym typeface="Overlock"/>
                </a:rPr>
                <a:t>| Tech Management, SRI-B</a:t>
              </a:r>
              <a:endParaRPr b="1" i="0" sz="1800" u="none" cap="none" strike="noStrike">
                <a:solidFill>
                  <a:srgbClr val="E81B25"/>
                </a:solidFill>
                <a:latin typeface="Overlock"/>
                <a:ea typeface="Overlock"/>
                <a:cs typeface="Overlock"/>
                <a:sym typeface="Overlock"/>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p:nvPr/>
        </p:nvSpPr>
        <p:spPr>
          <a:xfrm>
            <a:off x="0" y="0"/>
            <a:ext cx="12192000" cy="85344"/>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609600" y="670560"/>
            <a:ext cx="10972800" cy="853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IN" sz="4267" u="none" cap="none" strike="noStrike">
                <a:solidFill>
                  <a:schemeClr val="dk1"/>
                </a:solidFill>
                <a:latin typeface="Calibri"/>
                <a:ea typeface="Calibri"/>
                <a:cs typeface="Calibri"/>
                <a:sym typeface="Calibri"/>
              </a:rPr>
              <a:t>Problem Statement</a:t>
            </a:r>
            <a:endParaRPr sz="4267">
              <a:solidFill>
                <a:schemeClr val="dk1"/>
              </a:solidFill>
              <a:latin typeface="Calibri"/>
              <a:ea typeface="Calibri"/>
              <a:cs typeface="Calibri"/>
              <a:sym typeface="Calibri"/>
            </a:endParaRPr>
          </a:p>
        </p:txBody>
      </p:sp>
      <p:sp>
        <p:nvSpPr>
          <p:cNvPr id="104" name="Google Shape;104;p15"/>
          <p:cNvSpPr txBox="1"/>
          <p:nvPr/>
        </p:nvSpPr>
        <p:spPr>
          <a:xfrm>
            <a:off x="609600" y="1682775"/>
            <a:ext cx="11240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105" name="Google Shape;105;p15"/>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Font typeface="Arial"/>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sp>
        <p:nvSpPr>
          <p:cNvPr id="106" name="Google Shape;106;p15"/>
          <p:cNvSpPr txBox="1"/>
          <p:nvPr/>
        </p:nvSpPr>
        <p:spPr>
          <a:xfrm>
            <a:off x="609600" y="1524000"/>
            <a:ext cx="10841700" cy="493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IN" sz="1800">
                <a:solidFill>
                  <a:schemeClr val="dk1"/>
                </a:solidFill>
              </a:rPr>
              <a:t>Problem Overview</a:t>
            </a:r>
            <a:endParaRPr b="1" sz="1800">
              <a:solidFill>
                <a:schemeClr val="dk1"/>
              </a:solidFill>
            </a:endParaRPr>
          </a:p>
          <a:p>
            <a:pPr indent="0" lvl="0" marL="0" rtl="0" algn="l">
              <a:lnSpc>
                <a:spcPct val="115000"/>
              </a:lnSpc>
              <a:spcBef>
                <a:spcPts val="1200"/>
              </a:spcBef>
              <a:spcAft>
                <a:spcPts val="0"/>
              </a:spcAft>
              <a:buNone/>
            </a:pPr>
            <a:r>
              <a:rPr lang="en-IN" sz="1800">
                <a:solidFill>
                  <a:schemeClr val="dk1"/>
                </a:solidFill>
              </a:rPr>
              <a:t>Research and technical information today are distributed across multiple platforms, including research paper archives, GitHub repositories, benchmark websites, engineering blogs, model hubs, and news feeds. Although information is widely accessible, the process of comparing, evaluating, and analyzing it remains fragmented and requires significant manual effort. Users often face difficulty in performing efficient comparative analysis and obtaining structured insights from diverse sources.</a:t>
            </a:r>
            <a:endParaRPr sz="1800">
              <a:solidFill>
                <a:schemeClr val="dk1"/>
              </a:solidFill>
            </a:endParaRPr>
          </a:p>
          <a:p>
            <a:pPr indent="0" lvl="0" marL="0" rtl="0" algn="l">
              <a:lnSpc>
                <a:spcPct val="115000"/>
              </a:lnSpc>
              <a:spcBef>
                <a:spcPts val="1800"/>
              </a:spcBef>
              <a:spcAft>
                <a:spcPts val="0"/>
              </a:spcAft>
              <a:buNone/>
            </a:pPr>
            <a:r>
              <a:rPr b="1" lang="en-IN" sz="1800">
                <a:solidFill>
                  <a:schemeClr val="dk1"/>
                </a:solidFill>
              </a:rPr>
              <a:t>Challenges Faced by Users</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IN" sz="1800">
                <a:solidFill>
                  <a:schemeClr val="dk1"/>
                </a:solidFill>
              </a:rPr>
              <a:t>Searching across multiple platforms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Manual comparison of papers and repositories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Verification of code and dataset availability</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Identification of active real-world adoption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Tracking recent developments independently</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Time-consuming research workflow</a:t>
            </a:r>
            <a:endParaRPr sz="18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6"/>
          <p:cNvSpPr/>
          <p:nvPr/>
        </p:nvSpPr>
        <p:spPr>
          <a:xfrm>
            <a:off x="609600" y="670560"/>
            <a:ext cx="10972800" cy="85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IN" sz="4267" u="none" cap="none" strike="noStrike">
                <a:solidFill>
                  <a:schemeClr val="dk1"/>
                </a:solidFill>
                <a:latin typeface="Calibri"/>
                <a:ea typeface="Calibri"/>
                <a:cs typeface="Calibri"/>
                <a:sym typeface="Calibri"/>
              </a:rPr>
              <a:t>Problem Statement</a:t>
            </a:r>
            <a:endParaRPr sz="4267">
              <a:solidFill>
                <a:schemeClr val="dk1"/>
              </a:solidFill>
              <a:latin typeface="Calibri"/>
              <a:ea typeface="Calibri"/>
              <a:cs typeface="Calibri"/>
              <a:sym typeface="Calibri"/>
            </a:endParaRPr>
          </a:p>
        </p:txBody>
      </p:sp>
      <p:sp>
        <p:nvSpPr>
          <p:cNvPr id="115" name="Google Shape;115;p16"/>
          <p:cNvSpPr txBox="1"/>
          <p:nvPr/>
        </p:nvSpPr>
        <p:spPr>
          <a:xfrm>
            <a:off x="609600" y="1682775"/>
            <a:ext cx="11240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116" name="Google Shape;116;p16"/>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sp>
        <p:nvSpPr>
          <p:cNvPr id="117" name="Google Shape;117;p16"/>
          <p:cNvSpPr txBox="1"/>
          <p:nvPr/>
        </p:nvSpPr>
        <p:spPr>
          <a:xfrm>
            <a:off x="797450" y="1610825"/>
            <a:ext cx="10653900" cy="4258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IN" sz="2100">
                <a:solidFill>
                  <a:schemeClr val="dk1"/>
                </a:solidFill>
              </a:rPr>
              <a:t>Stakeholders Affected: </a:t>
            </a:r>
            <a:endParaRPr b="1" sz="2100">
              <a:solidFill>
                <a:schemeClr val="dk1"/>
              </a:solidFill>
            </a:endParaRPr>
          </a:p>
          <a:p>
            <a:pPr indent="-355600" lvl="0" marL="457200" rtl="0" algn="l">
              <a:lnSpc>
                <a:spcPct val="115000"/>
              </a:lnSpc>
              <a:spcBef>
                <a:spcPts val="1400"/>
              </a:spcBef>
              <a:spcAft>
                <a:spcPts val="0"/>
              </a:spcAft>
              <a:buClr>
                <a:schemeClr val="dk1"/>
              </a:buClr>
              <a:buSzPts val="2000"/>
              <a:buChar char="●"/>
            </a:pPr>
            <a:r>
              <a:rPr b="1" lang="en-IN" sz="2000">
                <a:solidFill>
                  <a:schemeClr val="dk1"/>
                </a:solidFill>
              </a:rPr>
              <a:t>Researchers - </a:t>
            </a:r>
            <a:r>
              <a:rPr lang="en-IN" sz="2000">
                <a:solidFill>
                  <a:schemeClr val="dk1"/>
                </a:solidFill>
              </a:rPr>
              <a:t>Faster identification of relevant work, Access to trustworthy research sources , Reduced manual analysis effort</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IN" sz="2000">
                <a:solidFill>
                  <a:schemeClr val="dk1"/>
                </a:solidFill>
              </a:rPr>
              <a:t>Students -  </a:t>
            </a:r>
            <a:r>
              <a:rPr lang="en-IN" sz="2000">
                <a:solidFill>
                  <a:schemeClr val="dk1"/>
                </a:solidFill>
              </a:rPr>
              <a:t>Easier discovery of useful learning resources , Better understanding of implementations and datasets , Improved research guidance</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IN" sz="2000">
                <a:solidFill>
                  <a:schemeClr val="dk1"/>
                </a:solidFill>
              </a:rPr>
              <a:t>Startups / Product Teams - </a:t>
            </a:r>
            <a:r>
              <a:rPr lang="en-IN" sz="2000">
                <a:solidFill>
                  <a:schemeClr val="dk1"/>
                </a:solidFill>
              </a:rPr>
              <a:t>Monitoring emerging technologies , Tracking industry adoption trends</a:t>
            </a:r>
            <a:endParaRPr sz="2000">
              <a:solidFill>
                <a:schemeClr val="dk1"/>
              </a:solidFill>
              <a:latin typeface="Calibri"/>
              <a:ea typeface="Calibri"/>
              <a:cs typeface="Calibri"/>
              <a:sym typeface="Calibri"/>
            </a:endParaRPr>
          </a:p>
          <a:p>
            <a:pPr indent="0" lvl="0" marL="0" rtl="0" algn="l">
              <a:lnSpc>
                <a:spcPct val="115000"/>
              </a:lnSpc>
              <a:spcBef>
                <a:spcPts val="1800"/>
              </a:spcBef>
              <a:spcAft>
                <a:spcPts val="400"/>
              </a:spcAft>
              <a:buNone/>
            </a:pPr>
            <a:r>
              <a:rPr b="1" lang="en-IN" sz="2100">
                <a:solidFill>
                  <a:schemeClr val="dk1"/>
                </a:solidFill>
              </a:rPr>
              <a:t>Motivation : </a:t>
            </a:r>
            <a:r>
              <a:rPr lang="en-IN" sz="2000">
                <a:solidFill>
                  <a:schemeClr val="dk1"/>
                </a:solidFill>
              </a:rPr>
              <a:t>The GenAI research and productivity theme was selected to address the growing fragmentation of research information across multiple platforms. Existing tools mainly support search and retrieval, with limited capabilities for structured comparison and analysis. The goal is to reduce manual effort and improve the efficiency of research discovery and evaluation.</a:t>
            </a:r>
            <a:endParaRPr sz="20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7"/>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7"/>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a:off x="609600" y="479174"/>
            <a:ext cx="10972800" cy="85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b="1" lang="en-IN" sz="4267">
                <a:solidFill>
                  <a:schemeClr val="dk1"/>
                </a:solidFill>
                <a:latin typeface="Calibri"/>
                <a:ea typeface="Calibri"/>
                <a:cs typeface="Calibri"/>
                <a:sym typeface="Calibri"/>
              </a:rPr>
              <a:t>Current Solution &amp; Gaps</a:t>
            </a:r>
            <a:endParaRPr sz="4267">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4267">
              <a:solidFill>
                <a:schemeClr val="dk1"/>
              </a:solidFill>
              <a:latin typeface="Calibri"/>
              <a:ea typeface="Calibri"/>
              <a:cs typeface="Calibri"/>
              <a:sym typeface="Calibri"/>
            </a:endParaRPr>
          </a:p>
        </p:txBody>
      </p:sp>
      <p:sp>
        <p:nvSpPr>
          <p:cNvPr id="126" name="Google Shape;126;p17"/>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graphicFrame>
        <p:nvGraphicFramePr>
          <p:cNvPr id="127" name="Google Shape;127;p17"/>
          <p:cNvGraphicFramePr/>
          <p:nvPr/>
        </p:nvGraphicFramePr>
        <p:xfrm>
          <a:off x="737191" y="1450347"/>
          <a:ext cx="3000000" cy="3000000"/>
        </p:xfrm>
        <a:graphic>
          <a:graphicData uri="http://schemas.openxmlformats.org/drawingml/2006/table">
            <a:tbl>
              <a:tblPr>
                <a:noFill/>
                <a:tableStyleId>{C671E57A-B4BF-48B9-B9EE-2CDAF63EE442}</a:tableStyleId>
              </a:tblPr>
              <a:tblGrid>
                <a:gridCol w="3138425"/>
                <a:gridCol w="3666400"/>
              </a:tblGrid>
              <a:tr h="344700">
                <a:tc>
                  <a:txBody>
                    <a:bodyPr/>
                    <a:lstStyle/>
                    <a:p>
                      <a:pPr indent="0" lvl="0" marL="0" rtl="0" algn="ctr">
                        <a:lnSpc>
                          <a:spcPct val="115000"/>
                        </a:lnSpc>
                        <a:spcBef>
                          <a:spcPts val="0"/>
                        </a:spcBef>
                        <a:spcAft>
                          <a:spcPts val="0"/>
                        </a:spcAft>
                        <a:buNone/>
                      </a:pPr>
                      <a:r>
                        <a:rPr b="1" lang="en-IN" sz="1800"/>
                        <a:t>Current </a:t>
                      </a:r>
                      <a:r>
                        <a:rPr b="1" lang="en-IN" sz="1800"/>
                        <a:t>Platforms:</a:t>
                      </a:r>
                      <a:endParaRPr b="1"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800"/>
                        <a:t>Main Purpose:</a:t>
                      </a:r>
                      <a:endParaRPr b="1"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8300">
                <a:tc>
                  <a:txBody>
                    <a:bodyPr/>
                    <a:lstStyle/>
                    <a:p>
                      <a:pPr indent="0" lvl="0" marL="0" rtl="0" algn="l">
                        <a:spcBef>
                          <a:spcPts val="0"/>
                        </a:spcBef>
                        <a:spcAft>
                          <a:spcPts val="0"/>
                        </a:spcAft>
                        <a:buNone/>
                      </a:pPr>
                      <a:r>
                        <a:rPr lang="en-IN" sz="1800"/>
                        <a:t>Google Scholar</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sz="1800"/>
                        <a:t>Academic paper search</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8300">
                <a:tc>
                  <a:txBody>
                    <a:bodyPr/>
                    <a:lstStyle/>
                    <a:p>
                      <a:pPr indent="0" lvl="0" marL="0" rtl="0" algn="l">
                        <a:spcBef>
                          <a:spcPts val="0"/>
                        </a:spcBef>
                        <a:spcAft>
                          <a:spcPts val="0"/>
                        </a:spcAft>
                        <a:buNone/>
                      </a:pPr>
                      <a:r>
                        <a:rPr lang="en-IN" sz="1800"/>
                        <a:t>Semantic Scholar</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sz="1800"/>
                        <a:t>Citation-based discovery</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8300">
                <a:tc>
                  <a:txBody>
                    <a:bodyPr/>
                    <a:lstStyle/>
                    <a:p>
                      <a:pPr indent="0" lvl="0" marL="0" rtl="0" algn="l">
                        <a:spcBef>
                          <a:spcPts val="0"/>
                        </a:spcBef>
                        <a:spcAft>
                          <a:spcPts val="0"/>
                        </a:spcAft>
                        <a:buNone/>
                      </a:pPr>
                      <a:r>
                        <a:rPr lang="en-IN" sz="1800"/>
                        <a:t>arXiv</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sz="1800"/>
                        <a:t>Research paper hosting</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8300">
                <a:tc>
                  <a:txBody>
                    <a:bodyPr/>
                    <a:lstStyle/>
                    <a:p>
                      <a:pPr indent="0" lvl="0" marL="0" rtl="0" algn="l">
                        <a:spcBef>
                          <a:spcPts val="0"/>
                        </a:spcBef>
                        <a:spcAft>
                          <a:spcPts val="0"/>
                        </a:spcAft>
                        <a:buNone/>
                      </a:pPr>
                      <a:r>
                        <a:rPr lang="en-IN" sz="1800"/>
                        <a:t>Papers With Code</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sz="1800"/>
                        <a:t>Benchmarks and implementations</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8300">
                <a:tc>
                  <a:txBody>
                    <a:bodyPr/>
                    <a:lstStyle/>
                    <a:p>
                      <a:pPr indent="0" lvl="0" marL="0" rtl="0" algn="l">
                        <a:spcBef>
                          <a:spcPts val="0"/>
                        </a:spcBef>
                        <a:spcAft>
                          <a:spcPts val="0"/>
                        </a:spcAft>
                        <a:buNone/>
                      </a:pPr>
                      <a:r>
                        <a:rPr lang="en-IN" sz="1800"/>
                        <a:t>GitHub</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sz="1800"/>
                        <a:t>Repository hosting</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8300">
                <a:tc>
                  <a:txBody>
                    <a:bodyPr/>
                    <a:lstStyle/>
                    <a:p>
                      <a:pPr indent="0" lvl="0" marL="0" rtl="0" algn="l">
                        <a:spcBef>
                          <a:spcPts val="0"/>
                        </a:spcBef>
                        <a:spcAft>
                          <a:spcPts val="0"/>
                        </a:spcAft>
                        <a:buNone/>
                      </a:pPr>
                      <a:r>
                        <a:rPr lang="en-IN" sz="1800"/>
                        <a:t>Hugging Face</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IN" sz="1800"/>
                        <a:t>Models and datasets</a:t>
                      </a:r>
                      <a:endParaRPr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28" name="Google Shape;128;p17"/>
          <p:cNvSpPr txBox="1"/>
          <p:nvPr/>
        </p:nvSpPr>
        <p:spPr>
          <a:xfrm>
            <a:off x="522000" y="4819638"/>
            <a:ext cx="11148000" cy="238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Clr>
                <a:schemeClr val="dk1"/>
              </a:buClr>
              <a:buSzPts val="1100"/>
              <a:buFont typeface="Arial"/>
              <a:buNone/>
            </a:pPr>
            <a:r>
              <a:rPr b="1" lang="en-IN" sz="1900">
                <a:solidFill>
                  <a:schemeClr val="dk1"/>
                </a:solidFill>
              </a:rPr>
              <a:t>Limitations of Existing Systems</a:t>
            </a:r>
            <a:endParaRPr b="1" sz="19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IN" sz="1800">
                <a:solidFill>
                  <a:schemeClr val="dk1"/>
                </a:solidFill>
              </a:rPr>
              <a:t>Focus on a single type of source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Lack of integration between research and industry signals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Limited explainability of results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Dependence on manual cross-platform comparison</a:t>
            </a:r>
            <a:endParaRPr sz="1800">
              <a:solidFill>
                <a:schemeClr val="dk1"/>
              </a:solidFill>
            </a:endParaRPr>
          </a:p>
          <a:p>
            <a:pPr indent="0" lvl="0" marL="0" rtl="0" algn="l">
              <a:spcBef>
                <a:spcPts val="1200"/>
              </a:spcBef>
              <a:spcAft>
                <a:spcPts val="0"/>
              </a:spcAft>
              <a:buNone/>
            </a:pPr>
            <a:r>
              <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8"/>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8"/>
          <p:cNvSpPr/>
          <p:nvPr/>
        </p:nvSpPr>
        <p:spPr>
          <a:xfrm>
            <a:off x="609600" y="479174"/>
            <a:ext cx="10972800" cy="85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rPr b="1" lang="en-IN" sz="4267">
                <a:solidFill>
                  <a:schemeClr val="dk1"/>
                </a:solidFill>
                <a:latin typeface="Calibri"/>
                <a:ea typeface="Calibri"/>
                <a:cs typeface="Calibri"/>
                <a:sym typeface="Calibri"/>
              </a:rPr>
              <a:t>Current Solution &amp; Gaps</a:t>
            </a:r>
            <a:endParaRPr sz="4267">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4267">
              <a:solidFill>
                <a:schemeClr val="dk1"/>
              </a:solidFill>
              <a:latin typeface="Calibri"/>
              <a:ea typeface="Calibri"/>
              <a:cs typeface="Calibri"/>
              <a:sym typeface="Calibri"/>
            </a:endParaRPr>
          </a:p>
        </p:txBody>
      </p:sp>
      <p:sp>
        <p:nvSpPr>
          <p:cNvPr id="137" name="Google Shape;137;p18"/>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sp>
        <p:nvSpPr>
          <p:cNvPr id="138" name="Google Shape;138;p18"/>
          <p:cNvSpPr txBox="1"/>
          <p:nvPr/>
        </p:nvSpPr>
        <p:spPr>
          <a:xfrm>
            <a:off x="813400" y="1435400"/>
            <a:ext cx="10972800" cy="508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IN" sz="2100">
                <a:solidFill>
                  <a:schemeClr val="dk1"/>
                </a:solidFill>
              </a:rPr>
              <a:t>Observed Gap: </a:t>
            </a:r>
            <a:endParaRPr b="1" sz="21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IN" sz="2000">
                <a:solidFill>
                  <a:schemeClr val="dk1"/>
                </a:solidFill>
              </a:rPr>
              <a:t>Difficulty in verifying reproducibility</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IN" sz="2000">
                <a:solidFill>
                  <a:schemeClr val="dk1"/>
                </a:solidFill>
              </a:rPr>
              <a:t>Limited visibility of supporting code availability</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IN" sz="2000">
                <a:solidFill>
                  <a:schemeClr val="dk1"/>
                </a:solidFill>
              </a:rPr>
              <a:t>Challenges in tracking active research evolution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IN" sz="2000">
                <a:solidFill>
                  <a:schemeClr val="dk1"/>
                </a:solidFill>
              </a:rPr>
              <a:t>Lack of insights into industry adoption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IN" sz="2000">
                <a:solidFill>
                  <a:schemeClr val="dk1"/>
                </a:solidFill>
              </a:rPr>
              <a:t>Difficulty in identifying cross-domain similarities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IN" sz="2000">
                <a:solidFill>
                  <a:schemeClr val="dk1"/>
                </a:solidFill>
              </a:rPr>
              <a:t>Need for unified research workflow management</a:t>
            </a:r>
            <a:endParaRPr sz="1300">
              <a:solidFill>
                <a:schemeClr val="dk1"/>
              </a:solidFill>
            </a:endParaRPr>
          </a:p>
          <a:p>
            <a:pPr indent="0" lvl="0" marL="0" rtl="0" algn="l">
              <a:lnSpc>
                <a:spcPct val="115000"/>
              </a:lnSpc>
              <a:spcBef>
                <a:spcPts val="1800"/>
              </a:spcBef>
              <a:spcAft>
                <a:spcPts val="0"/>
              </a:spcAft>
              <a:buNone/>
            </a:pPr>
            <a:r>
              <a:rPr b="1" lang="en-IN" sz="2100">
                <a:solidFill>
                  <a:schemeClr val="dk1"/>
                </a:solidFill>
              </a:rPr>
              <a:t>Opportunity:</a:t>
            </a:r>
            <a:endParaRPr b="1" sz="2100">
              <a:solidFill>
                <a:schemeClr val="dk1"/>
              </a:solidFill>
            </a:endParaRPr>
          </a:p>
          <a:p>
            <a:pPr indent="0" lvl="0" marL="0" rtl="0" algn="l">
              <a:lnSpc>
                <a:spcPct val="115000"/>
              </a:lnSpc>
              <a:spcBef>
                <a:spcPts val="1800"/>
              </a:spcBef>
              <a:spcAft>
                <a:spcPts val="400"/>
              </a:spcAft>
              <a:buNone/>
            </a:pPr>
            <a:r>
              <a:rPr lang="en-IN" sz="2000">
                <a:solidFill>
                  <a:schemeClr val="dk1"/>
                </a:solidFill>
              </a:rPr>
              <a:t>There is a growing need for systems that can integrate multiple research sources into a unified workflow. Such systems can provide structured comparison, explainable ranking, and consolidated insights while reducing the manual effort required for research exploration and evaluation.</a:t>
            </a:r>
            <a:endParaRPr sz="2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9"/>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9"/>
          <p:cNvSpPr/>
          <p:nvPr/>
        </p:nvSpPr>
        <p:spPr>
          <a:xfrm>
            <a:off x="609600" y="479174"/>
            <a:ext cx="10972800" cy="85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rPr b="1" lang="en-IN" sz="4267">
                <a:solidFill>
                  <a:schemeClr val="dk1"/>
                </a:solidFill>
                <a:latin typeface="Calibri"/>
                <a:ea typeface="Calibri"/>
                <a:cs typeface="Calibri"/>
                <a:sym typeface="Calibri"/>
              </a:rPr>
              <a:t>Current Solution &amp; Gaps</a:t>
            </a:r>
            <a:endParaRPr sz="4267">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4267">
              <a:solidFill>
                <a:schemeClr val="dk1"/>
              </a:solidFill>
              <a:latin typeface="Calibri"/>
              <a:ea typeface="Calibri"/>
              <a:cs typeface="Calibri"/>
              <a:sym typeface="Calibri"/>
            </a:endParaRPr>
          </a:p>
        </p:txBody>
      </p:sp>
      <p:sp>
        <p:nvSpPr>
          <p:cNvPr id="147" name="Google Shape;147;p19"/>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sp>
        <p:nvSpPr>
          <p:cNvPr id="148" name="Google Shape;148;p19"/>
          <p:cNvSpPr txBox="1"/>
          <p:nvPr/>
        </p:nvSpPr>
        <p:spPr>
          <a:xfrm>
            <a:off x="813400" y="1435400"/>
            <a:ext cx="10972800" cy="508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IN" sz="2100">
                <a:solidFill>
                  <a:schemeClr val="dk1"/>
                </a:solidFill>
              </a:rPr>
              <a:t>Observed Gap: </a:t>
            </a:r>
            <a:endParaRPr b="1" sz="21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IN" sz="2000">
                <a:solidFill>
                  <a:schemeClr val="dk1"/>
                </a:solidFill>
              </a:rPr>
              <a:t>Difficulty in verifying reproducibility</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IN" sz="2000">
                <a:solidFill>
                  <a:schemeClr val="dk1"/>
                </a:solidFill>
              </a:rPr>
              <a:t>Limited visibility of supporting code availability</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IN" sz="2000">
                <a:solidFill>
                  <a:schemeClr val="dk1"/>
                </a:solidFill>
              </a:rPr>
              <a:t>Challenges in tracking active research evolution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IN" sz="2000">
                <a:solidFill>
                  <a:schemeClr val="dk1"/>
                </a:solidFill>
              </a:rPr>
              <a:t>Lack of insights into industry adoption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IN" sz="2000">
                <a:solidFill>
                  <a:schemeClr val="dk1"/>
                </a:solidFill>
              </a:rPr>
              <a:t>Difficulty in identifying cross-domain similarities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IN" sz="2000">
                <a:solidFill>
                  <a:schemeClr val="dk1"/>
                </a:solidFill>
              </a:rPr>
              <a:t>Need for unified research workflow management</a:t>
            </a:r>
            <a:endParaRPr sz="1300">
              <a:solidFill>
                <a:schemeClr val="dk1"/>
              </a:solidFill>
            </a:endParaRPr>
          </a:p>
          <a:p>
            <a:pPr indent="0" lvl="0" marL="0" rtl="0" algn="l">
              <a:lnSpc>
                <a:spcPct val="115000"/>
              </a:lnSpc>
              <a:spcBef>
                <a:spcPts val="1800"/>
              </a:spcBef>
              <a:spcAft>
                <a:spcPts val="0"/>
              </a:spcAft>
              <a:buNone/>
            </a:pPr>
            <a:r>
              <a:rPr b="1" lang="en-IN" sz="2100">
                <a:solidFill>
                  <a:schemeClr val="dk1"/>
                </a:solidFill>
              </a:rPr>
              <a:t>Opportunity:</a:t>
            </a:r>
            <a:endParaRPr b="1" sz="2100">
              <a:solidFill>
                <a:schemeClr val="dk1"/>
              </a:solidFill>
            </a:endParaRPr>
          </a:p>
          <a:p>
            <a:pPr indent="0" lvl="0" marL="0" rtl="0" algn="l">
              <a:lnSpc>
                <a:spcPct val="115000"/>
              </a:lnSpc>
              <a:spcBef>
                <a:spcPts val="1800"/>
              </a:spcBef>
              <a:spcAft>
                <a:spcPts val="400"/>
              </a:spcAft>
              <a:buNone/>
            </a:pPr>
            <a:r>
              <a:rPr lang="en-IN" sz="2000">
                <a:solidFill>
                  <a:schemeClr val="dk1"/>
                </a:solidFill>
              </a:rPr>
              <a:t>There is a growing need for systems that can integrate multiple research sources into a unified workflow. Such systems can provide structured comparison, explainable ranking, and consolidated insights while reducing the manual effort required for research exploration and evaluation.</a:t>
            </a:r>
            <a:endParaRPr sz="2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0"/>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0"/>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0"/>
          <p:cNvSpPr/>
          <p:nvPr/>
        </p:nvSpPr>
        <p:spPr>
          <a:xfrm>
            <a:off x="609600" y="479174"/>
            <a:ext cx="10972800" cy="85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rPr b="1" lang="en-IN" sz="4267">
                <a:solidFill>
                  <a:schemeClr val="dk1"/>
                </a:solidFill>
                <a:latin typeface="Calibri"/>
                <a:ea typeface="Calibri"/>
                <a:cs typeface="Calibri"/>
                <a:sym typeface="Calibri"/>
              </a:rPr>
              <a:t>Proposed Solution</a:t>
            </a:r>
            <a:endParaRPr sz="4267">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4267">
              <a:solidFill>
                <a:schemeClr val="dk1"/>
              </a:solidFill>
              <a:latin typeface="Calibri"/>
              <a:ea typeface="Calibri"/>
              <a:cs typeface="Calibri"/>
              <a:sym typeface="Calibri"/>
            </a:endParaRPr>
          </a:p>
        </p:txBody>
      </p:sp>
      <p:sp>
        <p:nvSpPr>
          <p:cNvPr id="157" name="Google Shape;157;p20"/>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sp>
        <p:nvSpPr>
          <p:cNvPr id="158" name="Google Shape;158;p20"/>
          <p:cNvSpPr txBox="1"/>
          <p:nvPr/>
        </p:nvSpPr>
        <p:spPr>
          <a:xfrm>
            <a:off x="813400" y="1435400"/>
            <a:ext cx="10972800" cy="508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IN" sz="1900">
                <a:solidFill>
                  <a:schemeClr val="dk1"/>
                </a:solidFill>
              </a:rPr>
              <a:t>PRISM:</a:t>
            </a:r>
            <a:endParaRPr b="1" sz="1900">
              <a:solidFill>
                <a:schemeClr val="dk1"/>
              </a:solidFill>
            </a:endParaRPr>
          </a:p>
          <a:p>
            <a:pPr indent="0" lvl="0" marL="0" rtl="0" algn="l">
              <a:lnSpc>
                <a:spcPct val="115000"/>
              </a:lnSpc>
              <a:spcBef>
                <a:spcPts val="1200"/>
              </a:spcBef>
              <a:spcAft>
                <a:spcPts val="0"/>
              </a:spcAft>
              <a:buNone/>
            </a:pPr>
            <a:r>
              <a:rPr lang="en-IN" sz="1900">
                <a:solidFill>
                  <a:schemeClr val="dk1"/>
                </a:solidFill>
              </a:rPr>
              <a:t>PRISM is a full-stack research intelligence system designed to aggregate and analyze technical information from multiple sources. The system collects technical signals from diverse platforms, converts them into a unified structured format, links related research items, stores searchable semantic memory, performs analytical scoring using multiple evaluation engines, and presents insights through an interactive dashboard interface.</a:t>
            </a:r>
            <a:endParaRPr sz="1900">
              <a:solidFill>
                <a:schemeClr val="dk1"/>
              </a:solidFill>
            </a:endParaRPr>
          </a:p>
          <a:p>
            <a:pPr indent="0" lvl="0" marL="0" rtl="0" algn="l">
              <a:lnSpc>
                <a:spcPct val="115000"/>
              </a:lnSpc>
              <a:spcBef>
                <a:spcPts val="1200"/>
              </a:spcBef>
              <a:spcAft>
                <a:spcPts val="0"/>
              </a:spcAft>
              <a:buNone/>
            </a:pPr>
            <a:r>
              <a:rPr b="1" lang="en-IN" sz="1900">
                <a:solidFill>
                  <a:schemeClr val="dk1"/>
                </a:solidFill>
              </a:rPr>
              <a:t>Core Objective: </a:t>
            </a:r>
            <a:endParaRPr b="1" sz="1900">
              <a:solidFill>
                <a:schemeClr val="dk1"/>
              </a:solidFill>
            </a:endParaRPr>
          </a:p>
          <a:p>
            <a:pPr indent="-349250" lvl="0" marL="457200" rtl="0" algn="l">
              <a:lnSpc>
                <a:spcPct val="115000"/>
              </a:lnSpc>
              <a:spcBef>
                <a:spcPts val="1200"/>
              </a:spcBef>
              <a:spcAft>
                <a:spcPts val="0"/>
              </a:spcAft>
              <a:buClr>
                <a:schemeClr val="dk1"/>
              </a:buClr>
              <a:buSzPts val="1900"/>
              <a:buChar char="●"/>
            </a:pPr>
            <a:r>
              <a:rPr lang="en-IN" sz="1900">
                <a:solidFill>
                  <a:schemeClr val="dk1"/>
                </a:solidFill>
              </a:rPr>
              <a:t>Compare research items more efficiently</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IN" sz="1900">
                <a:solidFill>
                  <a:schemeClr val="dk1"/>
                </a:solidFill>
              </a:rPr>
              <a:t>Identify important trends </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IN" sz="1900">
                <a:solidFill>
                  <a:schemeClr val="dk1"/>
                </a:solidFill>
              </a:rPr>
              <a:t>Explore related work </a:t>
            </a:r>
            <a:endParaRPr sz="1900">
              <a:solidFill>
                <a:schemeClr val="dk1"/>
              </a:solidFill>
            </a:endParaRPr>
          </a:p>
          <a:p>
            <a:pPr indent="-349250" lvl="0" marL="457200" rtl="0" algn="l">
              <a:lnSpc>
                <a:spcPct val="115000"/>
              </a:lnSpc>
              <a:spcBef>
                <a:spcPts val="0"/>
              </a:spcBef>
              <a:spcAft>
                <a:spcPts val="0"/>
              </a:spcAft>
              <a:buClr>
                <a:schemeClr val="dk1"/>
              </a:buClr>
              <a:buSzPts val="1900"/>
              <a:buChar char="●"/>
            </a:pPr>
            <a:r>
              <a:rPr lang="en-IN" sz="1900">
                <a:solidFill>
                  <a:schemeClr val="dk1"/>
                </a:solidFill>
              </a:rPr>
              <a:t>Understand supporting evidence behind rankings</a:t>
            </a:r>
            <a:endParaRPr sz="1900">
              <a:solidFill>
                <a:schemeClr val="dk1"/>
              </a:solidFill>
            </a:endParaRPr>
          </a:p>
          <a:p>
            <a:pPr indent="0" lvl="0" marL="0" rtl="0" algn="l">
              <a:lnSpc>
                <a:spcPct val="115000"/>
              </a:lnSpc>
              <a:spcBef>
                <a:spcPts val="1800"/>
              </a:spcBef>
              <a:spcAft>
                <a:spcPts val="400"/>
              </a:spcAft>
              <a:buNone/>
            </a:pPr>
            <a:r>
              <a:t/>
            </a:r>
            <a:endParaRPr b="1" sz="2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3" name="Shape 163"/>
        <p:cNvGrpSpPr/>
        <p:nvPr/>
      </p:nvGrpSpPr>
      <p:grpSpPr>
        <a:xfrm>
          <a:off x="0" y="0"/>
          <a:ext cx="0" cy="0"/>
          <a:chOff x="0" y="0"/>
          <a:chExt cx="0" cy="0"/>
        </a:xfrm>
      </p:grpSpPr>
      <p:sp>
        <p:nvSpPr>
          <p:cNvPr id="164" name="Google Shape;164;p21"/>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1"/>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21"/>
          <p:cNvGrpSpPr/>
          <p:nvPr/>
        </p:nvGrpSpPr>
        <p:grpSpPr>
          <a:xfrm>
            <a:off x="609600" y="762000"/>
            <a:ext cx="10972800" cy="762000"/>
            <a:chOff x="609600" y="762000"/>
            <a:chExt cx="10972800" cy="762000"/>
          </a:xfrm>
        </p:grpSpPr>
        <p:sp>
          <p:nvSpPr>
            <p:cNvPr id="167" name="Google Shape;167;p21"/>
            <p:cNvSpPr/>
            <p:nvPr/>
          </p:nvSpPr>
          <p:spPr>
            <a:xfrm>
              <a:off x="609600" y="762000"/>
              <a:ext cx="109728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21"/>
            <p:cNvSpPr txBox="1"/>
            <p:nvPr/>
          </p:nvSpPr>
          <p:spPr>
            <a:xfrm>
              <a:off x="609600" y="762000"/>
              <a:ext cx="109728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IN" sz="3600">
                  <a:solidFill>
                    <a:srgbClr val="0F172A"/>
                  </a:solidFill>
                  <a:latin typeface="Inter ExtraBold"/>
                  <a:ea typeface="Inter ExtraBold"/>
                  <a:cs typeface="Inter ExtraBold"/>
                  <a:sym typeface="Inter ExtraBold"/>
                </a:rPr>
                <a:t>Proposed Solution </a:t>
              </a:r>
              <a:endParaRPr b="0" sz="3600">
                <a:solidFill>
                  <a:srgbClr val="0F172A"/>
                </a:solidFill>
                <a:latin typeface="Inter ExtraBold"/>
                <a:ea typeface="Inter ExtraBold"/>
                <a:cs typeface="Inter ExtraBold"/>
                <a:sym typeface="Inter ExtraBold"/>
              </a:endParaRPr>
            </a:p>
          </p:txBody>
        </p:sp>
      </p:grpSp>
      <p:sp>
        <p:nvSpPr>
          <p:cNvPr id="169" name="Google Shape;169;p21"/>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grpSp>
        <p:nvGrpSpPr>
          <p:cNvPr id="170" name="Google Shape;170;p21"/>
          <p:cNvGrpSpPr/>
          <p:nvPr/>
        </p:nvGrpSpPr>
        <p:grpSpPr>
          <a:xfrm>
            <a:off x="609600" y="1714500"/>
            <a:ext cx="3429000" cy="4572000"/>
            <a:chOff x="609600" y="1714500"/>
            <a:chExt cx="3429000" cy="4572000"/>
          </a:xfrm>
        </p:grpSpPr>
        <p:sp>
          <p:nvSpPr>
            <p:cNvPr id="171" name="Google Shape;171;p21"/>
            <p:cNvSpPr/>
            <p:nvPr/>
          </p:nvSpPr>
          <p:spPr>
            <a:xfrm>
              <a:off x="609600" y="1714500"/>
              <a:ext cx="3429000" cy="4572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21"/>
            <p:cNvSpPr txBox="1"/>
            <p:nvPr/>
          </p:nvSpPr>
          <p:spPr>
            <a:xfrm>
              <a:off x="800100" y="1905000"/>
              <a:ext cx="3048000" cy="419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IN" sz="1800">
                  <a:solidFill>
                    <a:srgbClr val="0077A8"/>
                  </a:solidFill>
                  <a:latin typeface="Material Icons"/>
                  <a:ea typeface="Material Icons"/>
                  <a:cs typeface="Material Icons"/>
                  <a:sym typeface="Material Icons"/>
                </a:rPr>
                <a:t>input</a:t>
              </a:r>
              <a:endParaRPr sz="1800">
                <a:solidFill>
                  <a:srgbClr val="0077A8"/>
                </a:solidFill>
                <a:latin typeface="Material Icons"/>
                <a:ea typeface="Material Icons"/>
                <a:cs typeface="Material Icons"/>
                <a:sym typeface="Material Icons"/>
              </a:endParaRPr>
            </a:p>
            <a:p>
              <a:pPr indent="0" lvl="0" marL="95250" marR="0" rtl="0" algn="l">
                <a:spcBef>
                  <a:spcPts val="0"/>
                </a:spcBef>
                <a:spcAft>
                  <a:spcPts val="0"/>
                </a:spcAft>
                <a:buNone/>
              </a:pPr>
              <a:r>
                <a:rPr b="1" lang="en-IN" sz="1800">
                  <a:solidFill>
                    <a:srgbClr val="0F172A"/>
                  </a:solidFill>
                  <a:latin typeface="Inter"/>
                  <a:ea typeface="Inter"/>
                  <a:cs typeface="Inter"/>
                  <a:sym typeface="Inter"/>
                </a:rPr>
                <a:t>Multi-Source Ingestion</a:t>
              </a:r>
              <a:endParaRPr b="1" sz="1800">
                <a:solidFill>
                  <a:srgbClr val="0F172A"/>
                </a:solidFill>
                <a:latin typeface="Inter"/>
                <a:ea typeface="Inter"/>
                <a:cs typeface="Inter"/>
                <a:sym typeface="Inter"/>
              </a:endParaRPr>
            </a:p>
            <a:p>
              <a:pPr indent="-342900" lvl="0" marL="457200" rtl="0" algn="l">
                <a:lnSpc>
                  <a:spcPct val="115000"/>
                </a:lnSpc>
                <a:spcBef>
                  <a:spcPts val="1500"/>
                </a:spcBef>
                <a:spcAft>
                  <a:spcPts val="0"/>
                </a:spcAft>
                <a:buClr>
                  <a:schemeClr val="dk1"/>
                </a:buClr>
                <a:buSzPts val="1800"/>
                <a:buChar char="●"/>
              </a:pPr>
              <a:r>
                <a:rPr lang="en-IN" sz="1800">
                  <a:latin typeface="Inter"/>
                  <a:ea typeface="Inter"/>
                  <a:cs typeface="Inter"/>
                  <a:sym typeface="Inter"/>
                </a:rPr>
                <a:t>arXiv</a:t>
              </a:r>
              <a:endParaRPr sz="1800">
                <a:latin typeface="Inter"/>
                <a:ea typeface="Inter"/>
                <a:cs typeface="Inter"/>
                <a:sym typeface="Inter"/>
              </a:endParaRPr>
            </a:p>
            <a:p>
              <a:pPr indent="-342900" lvl="0" marL="457200" rtl="0" algn="l">
                <a:lnSpc>
                  <a:spcPct val="115000"/>
                </a:lnSpc>
                <a:spcBef>
                  <a:spcPts val="0"/>
                </a:spcBef>
                <a:spcAft>
                  <a:spcPts val="0"/>
                </a:spcAft>
                <a:buClr>
                  <a:schemeClr val="dk1"/>
                </a:buClr>
                <a:buSzPts val="1800"/>
                <a:buChar char="●"/>
              </a:pPr>
              <a:r>
                <a:rPr lang="en-IN" sz="1800">
                  <a:latin typeface="Inter"/>
                  <a:ea typeface="Inter"/>
                  <a:cs typeface="Inter"/>
                  <a:sym typeface="Inter"/>
                </a:rPr>
                <a:t>OpenAlex</a:t>
              </a:r>
              <a:endParaRPr sz="1800">
                <a:latin typeface="Inter"/>
                <a:ea typeface="Inter"/>
                <a:cs typeface="Inter"/>
                <a:sym typeface="Inter"/>
              </a:endParaRPr>
            </a:p>
            <a:p>
              <a:pPr indent="-342900" lvl="0" marL="457200" rtl="0" algn="l">
                <a:lnSpc>
                  <a:spcPct val="115000"/>
                </a:lnSpc>
                <a:spcBef>
                  <a:spcPts val="0"/>
                </a:spcBef>
                <a:spcAft>
                  <a:spcPts val="0"/>
                </a:spcAft>
                <a:buClr>
                  <a:schemeClr val="dk1"/>
                </a:buClr>
                <a:buSzPts val="1800"/>
                <a:buChar char="●"/>
              </a:pPr>
              <a:r>
                <a:rPr lang="en-IN" sz="1800">
                  <a:latin typeface="Inter"/>
                  <a:ea typeface="Inter"/>
                  <a:cs typeface="Inter"/>
                  <a:sym typeface="Inter"/>
                </a:rPr>
                <a:t>Semantic Scholar</a:t>
              </a:r>
              <a:endParaRPr sz="1800">
                <a:latin typeface="Inter"/>
                <a:ea typeface="Inter"/>
                <a:cs typeface="Inter"/>
                <a:sym typeface="Inter"/>
              </a:endParaRPr>
            </a:p>
            <a:p>
              <a:pPr indent="-342900" lvl="0" marL="457200" rtl="0" algn="l">
                <a:lnSpc>
                  <a:spcPct val="115000"/>
                </a:lnSpc>
                <a:spcBef>
                  <a:spcPts val="0"/>
                </a:spcBef>
                <a:spcAft>
                  <a:spcPts val="0"/>
                </a:spcAft>
                <a:buClr>
                  <a:schemeClr val="dk1"/>
                </a:buClr>
                <a:buSzPts val="1800"/>
                <a:buChar char="●"/>
              </a:pPr>
              <a:r>
                <a:rPr lang="en-IN" sz="1800">
                  <a:latin typeface="Inter"/>
                  <a:ea typeface="Inter"/>
                  <a:cs typeface="Inter"/>
                  <a:sym typeface="Inter"/>
                </a:rPr>
                <a:t>GitHub</a:t>
              </a:r>
              <a:endParaRPr sz="1800">
                <a:latin typeface="Inter"/>
                <a:ea typeface="Inter"/>
                <a:cs typeface="Inter"/>
                <a:sym typeface="Inter"/>
              </a:endParaRPr>
            </a:p>
            <a:p>
              <a:pPr indent="-342900" lvl="0" marL="457200" rtl="0" algn="l">
                <a:lnSpc>
                  <a:spcPct val="115000"/>
                </a:lnSpc>
                <a:spcBef>
                  <a:spcPts val="0"/>
                </a:spcBef>
                <a:spcAft>
                  <a:spcPts val="0"/>
                </a:spcAft>
                <a:buClr>
                  <a:schemeClr val="dk1"/>
                </a:buClr>
                <a:buSzPts val="1800"/>
                <a:buChar char="●"/>
              </a:pPr>
              <a:r>
                <a:rPr lang="en-IN" sz="1800">
                  <a:latin typeface="Inter"/>
                  <a:ea typeface="Inter"/>
                  <a:cs typeface="Inter"/>
                  <a:sym typeface="Inter"/>
                </a:rPr>
                <a:t>Hugging Face</a:t>
              </a:r>
              <a:endParaRPr sz="1800">
                <a:latin typeface="Inter"/>
                <a:ea typeface="Inter"/>
                <a:cs typeface="Inter"/>
                <a:sym typeface="Inter"/>
              </a:endParaRPr>
            </a:p>
            <a:p>
              <a:pPr indent="-342900" lvl="0" marL="457200" rtl="0" algn="l">
                <a:lnSpc>
                  <a:spcPct val="115000"/>
                </a:lnSpc>
                <a:spcBef>
                  <a:spcPts val="0"/>
                </a:spcBef>
                <a:spcAft>
                  <a:spcPts val="0"/>
                </a:spcAft>
                <a:buClr>
                  <a:schemeClr val="dk1"/>
                </a:buClr>
                <a:buSzPts val="1800"/>
                <a:buChar char="●"/>
              </a:pPr>
              <a:r>
                <a:rPr lang="en-IN" sz="1800">
                  <a:latin typeface="Inter"/>
                  <a:ea typeface="Inter"/>
                  <a:cs typeface="Inter"/>
                  <a:sym typeface="Inter"/>
                </a:rPr>
                <a:t>Papers With Code</a:t>
              </a:r>
              <a:endParaRPr sz="1800">
                <a:latin typeface="Inter"/>
                <a:ea typeface="Inter"/>
                <a:cs typeface="Inter"/>
                <a:sym typeface="Inter"/>
              </a:endParaRPr>
            </a:p>
            <a:p>
              <a:pPr indent="-342900" lvl="0" marL="457200" rtl="0" algn="l">
                <a:lnSpc>
                  <a:spcPct val="115000"/>
                </a:lnSpc>
                <a:spcBef>
                  <a:spcPts val="0"/>
                </a:spcBef>
                <a:spcAft>
                  <a:spcPts val="0"/>
                </a:spcAft>
                <a:buClr>
                  <a:schemeClr val="dk1"/>
                </a:buClr>
                <a:buSzPts val="1800"/>
                <a:buChar char="●"/>
              </a:pPr>
              <a:r>
                <a:rPr lang="en-IN" sz="1800">
                  <a:latin typeface="Inter"/>
                  <a:ea typeface="Inter"/>
                  <a:cs typeface="Inter"/>
                  <a:sym typeface="Inter"/>
                </a:rPr>
                <a:t>RSS feeds</a:t>
              </a:r>
              <a:endParaRPr sz="1800">
                <a:latin typeface="Inter"/>
                <a:ea typeface="Inter"/>
                <a:cs typeface="Inter"/>
                <a:sym typeface="Inter"/>
              </a:endParaRPr>
            </a:p>
            <a:p>
              <a:pPr indent="0" lvl="0" marL="0" rtl="0" algn="l">
                <a:spcBef>
                  <a:spcPts val="1200"/>
                </a:spcBef>
                <a:spcAft>
                  <a:spcPts val="900"/>
                </a:spcAft>
                <a:buNone/>
              </a:pPr>
              <a:r>
                <a:t/>
              </a:r>
              <a:endParaRPr sz="1800">
                <a:latin typeface="Inter"/>
                <a:ea typeface="Inter"/>
                <a:cs typeface="Inter"/>
                <a:sym typeface="Inter"/>
              </a:endParaRPr>
            </a:p>
          </p:txBody>
        </p:sp>
      </p:grpSp>
      <p:grpSp>
        <p:nvGrpSpPr>
          <p:cNvPr id="173" name="Google Shape;173;p21"/>
          <p:cNvGrpSpPr/>
          <p:nvPr/>
        </p:nvGrpSpPr>
        <p:grpSpPr>
          <a:xfrm>
            <a:off x="4381500" y="1714500"/>
            <a:ext cx="3429000" cy="4572000"/>
            <a:chOff x="4381500" y="1714500"/>
            <a:chExt cx="3429000" cy="4572000"/>
          </a:xfrm>
        </p:grpSpPr>
        <p:sp>
          <p:nvSpPr>
            <p:cNvPr id="174" name="Google Shape;174;p21"/>
            <p:cNvSpPr/>
            <p:nvPr/>
          </p:nvSpPr>
          <p:spPr>
            <a:xfrm>
              <a:off x="4381500" y="1714500"/>
              <a:ext cx="3429000" cy="4572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21"/>
            <p:cNvSpPr txBox="1"/>
            <p:nvPr/>
          </p:nvSpPr>
          <p:spPr>
            <a:xfrm>
              <a:off x="4572000" y="1905000"/>
              <a:ext cx="3048000" cy="419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IN" sz="1800">
                  <a:solidFill>
                    <a:srgbClr val="0077A8"/>
                  </a:solidFill>
                  <a:highlight>
                    <a:schemeClr val="lt1"/>
                  </a:highlight>
                  <a:latin typeface="Material Icons"/>
                  <a:ea typeface="Material Icons"/>
                  <a:cs typeface="Material Icons"/>
                  <a:sym typeface="Material Icons"/>
                </a:rPr>
                <a:t>analytics</a:t>
              </a:r>
              <a:endParaRPr sz="1800">
                <a:solidFill>
                  <a:srgbClr val="0077A8"/>
                </a:solidFill>
                <a:highlight>
                  <a:schemeClr val="lt1"/>
                </a:highlight>
                <a:latin typeface="Material Icons"/>
                <a:ea typeface="Material Icons"/>
                <a:cs typeface="Material Icons"/>
                <a:sym typeface="Material Icons"/>
              </a:endParaRPr>
            </a:p>
            <a:p>
              <a:pPr indent="0" lvl="0" marL="95250" marR="0" rtl="0" algn="l">
                <a:spcBef>
                  <a:spcPts val="0"/>
                </a:spcBef>
                <a:spcAft>
                  <a:spcPts val="0"/>
                </a:spcAft>
                <a:buNone/>
              </a:pPr>
              <a:r>
                <a:rPr b="1" lang="en-IN" sz="1800">
                  <a:solidFill>
                    <a:srgbClr val="0F172A"/>
                  </a:solidFill>
                  <a:highlight>
                    <a:schemeClr val="lt1"/>
                  </a:highlight>
                  <a:latin typeface="Inter"/>
                  <a:ea typeface="Inter"/>
                  <a:cs typeface="Inter"/>
                  <a:sym typeface="Inter"/>
                </a:rPr>
                <a:t>Scoring &amp; Analysis</a:t>
              </a:r>
              <a:endParaRPr b="1" sz="1800">
                <a:solidFill>
                  <a:srgbClr val="0F172A"/>
                </a:solidFill>
                <a:highlight>
                  <a:schemeClr val="lt1"/>
                </a:highlight>
                <a:latin typeface="Inter"/>
                <a:ea typeface="Inter"/>
                <a:cs typeface="Inter"/>
                <a:sym typeface="Inter"/>
              </a:endParaRPr>
            </a:p>
            <a:p>
              <a:pPr indent="-342900" lvl="0" marL="457200" rtl="0" algn="l">
                <a:spcBef>
                  <a:spcPts val="1500"/>
                </a:spcBef>
                <a:spcAft>
                  <a:spcPts val="0"/>
                </a:spcAft>
                <a:buClr>
                  <a:srgbClr val="1E293B"/>
                </a:buClr>
                <a:buSzPts val="1800"/>
                <a:buChar char="●"/>
              </a:pPr>
              <a:r>
                <a:rPr lang="en-IN" sz="1800">
                  <a:solidFill>
                    <a:srgbClr val="1E293B"/>
                  </a:solidFill>
                  <a:highlight>
                    <a:schemeClr val="lt1"/>
                  </a:highlight>
                </a:rPr>
                <a:t>Novelty analysis</a:t>
              </a:r>
              <a:endParaRPr sz="1800">
                <a:solidFill>
                  <a:srgbClr val="1E293B"/>
                </a:solidFill>
                <a:highlight>
                  <a:schemeClr val="lt1"/>
                </a:highlight>
              </a:endParaRPr>
            </a:p>
            <a:p>
              <a:pPr indent="-342900" lvl="0" marL="457200" rtl="0" algn="l">
                <a:spcBef>
                  <a:spcPts val="0"/>
                </a:spcBef>
                <a:spcAft>
                  <a:spcPts val="0"/>
                </a:spcAft>
                <a:buClr>
                  <a:srgbClr val="1E293B"/>
                </a:buClr>
                <a:buSzPts val="1800"/>
                <a:buChar char="●"/>
              </a:pPr>
              <a:r>
                <a:rPr lang="en-IN" sz="1800">
                  <a:solidFill>
                    <a:srgbClr val="1E293B"/>
                  </a:solidFill>
                  <a:highlight>
                    <a:schemeClr val="lt1"/>
                  </a:highlight>
                </a:rPr>
                <a:t>Trust and reproducibility scoring</a:t>
              </a:r>
              <a:endParaRPr sz="1800">
                <a:solidFill>
                  <a:srgbClr val="1E293B"/>
                </a:solidFill>
                <a:highlight>
                  <a:schemeClr val="lt1"/>
                </a:highlight>
              </a:endParaRPr>
            </a:p>
            <a:p>
              <a:pPr indent="-342900" lvl="0" marL="457200" rtl="0" algn="l">
                <a:spcBef>
                  <a:spcPts val="0"/>
                </a:spcBef>
                <a:spcAft>
                  <a:spcPts val="0"/>
                </a:spcAft>
                <a:buClr>
                  <a:srgbClr val="1E293B"/>
                </a:buClr>
                <a:buSzPts val="1800"/>
                <a:buChar char="●"/>
              </a:pPr>
              <a:r>
                <a:rPr lang="en-IN" sz="1800">
                  <a:solidFill>
                    <a:srgbClr val="1E293B"/>
                  </a:solidFill>
                  <a:highlight>
                    <a:schemeClr val="lt1"/>
                  </a:highlight>
                </a:rPr>
                <a:t>Contradiction risk analysis</a:t>
              </a:r>
              <a:endParaRPr sz="1800">
                <a:solidFill>
                  <a:srgbClr val="1E293B"/>
                </a:solidFill>
                <a:highlight>
                  <a:schemeClr val="lt1"/>
                </a:highlight>
              </a:endParaRPr>
            </a:p>
            <a:p>
              <a:pPr indent="-342900" lvl="0" marL="457200" rtl="0" algn="l">
                <a:spcBef>
                  <a:spcPts val="0"/>
                </a:spcBef>
                <a:spcAft>
                  <a:spcPts val="0"/>
                </a:spcAft>
                <a:buClr>
                  <a:srgbClr val="1E293B"/>
                </a:buClr>
                <a:buSzPts val="1800"/>
                <a:buChar char="●"/>
              </a:pPr>
              <a:r>
                <a:rPr lang="en-IN" sz="1800">
                  <a:solidFill>
                    <a:srgbClr val="1E293B"/>
                  </a:solidFill>
                  <a:highlight>
                    <a:schemeClr val="lt1"/>
                  </a:highlight>
                </a:rPr>
                <a:t>Adoption gap detection</a:t>
              </a:r>
              <a:endParaRPr sz="1800">
                <a:solidFill>
                  <a:srgbClr val="1E293B"/>
                </a:solidFill>
                <a:highlight>
                  <a:schemeClr val="lt1"/>
                </a:highlight>
              </a:endParaRPr>
            </a:p>
            <a:p>
              <a:pPr indent="-342900" lvl="0" marL="457200" rtl="0" algn="l">
                <a:spcBef>
                  <a:spcPts val="0"/>
                </a:spcBef>
                <a:spcAft>
                  <a:spcPts val="0"/>
                </a:spcAft>
                <a:buClr>
                  <a:srgbClr val="1E293B"/>
                </a:buClr>
                <a:buSzPts val="1800"/>
                <a:buChar char="●"/>
              </a:pPr>
              <a:r>
                <a:rPr lang="en-IN" sz="1800">
                  <a:solidFill>
                    <a:srgbClr val="1E293B"/>
                  </a:solidFill>
                  <a:highlight>
                    <a:schemeClr val="lt1"/>
                  </a:highlight>
                </a:rPr>
                <a:t>Cross-domain relevance evaluation</a:t>
              </a:r>
              <a:endParaRPr sz="1800">
                <a:solidFill>
                  <a:srgbClr val="1E293B"/>
                </a:solidFill>
                <a:highlight>
                  <a:schemeClr val="lt1"/>
                </a:highlight>
              </a:endParaRPr>
            </a:p>
            <a:p>
              <a:pPr indent="0" lvl="0" marL="0" rtl="0" algn="l">
                <a:spcBef>
                  <a:spcPts val="1125"/>
                </a:spcBef>
                <a:spcAft>
                  <a:spcPts val="1125"/>
                </a:spcAft>
                <a:buNone/>
              </a:pPr>
              <a:r>
                <a:t/>
              </a:r>
              <a:endParaRPr sz="1800">
                <a:solidFill>
                  <a:srgbClr val="1E293B"/>
                </a:solidFill>
                <a:highlight>
                  <a:schemeClr val="lt1"/>
                </a:highlight>
              </a:endParaRPr>
            </a:p>
          </p:txBody>
        </p:sp>
      </p:grpSp>
      <p:grpSp>
        <p:nvGrpSpPr>
          <p:cNvPr id="176" name="Google Shape;176;p21"/>
          <p:cNvGrpSpPr/>
          <p:nvPr/>
        </p:nvGrpSpPr>
        <p:grpSpPr>
          <a:xfrm>
            <a:off x="8153400" y="1714500"/>
            <a:ext cx="3429000" cy="4572000"/>
            <a:chOff x="8153400" y="1714500"/>
            <a:chExt cx="3429000" cy="4572000"/>
          </a:xfrm>
        </p:grpSpPr>
        <p:sp>
          <p:nvSpPr>
            <p:cNvPr id="177" name="Google Shape;177;p21"/>
            <p:cNvSpPr/>
            <p:nvPr/>
          </p:nvSpPr>
          <p:spPr>
            <a:xfrm>
              <a:off x="8153400" y="1714500"/>
              <a:ext cx="3429000" cy="4572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21"/>
            <p:cNvSpPr txBox="1"/>
            <p:nvPr/>
          </p:nvSpPr>
          <p:spPr>
            <a:xfrm>
              <a:off x="8343900" y="1905000"/>
              <a:ext cx="3048000" cy="419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IN" sz="1800">
                  <a:solidFill>
                    <a:srgbClr val="0077A8"/>
                  </a:solidFill>
                  <a:latin typeface="Material Icons"/>
                  <a:ea typeface="Material Icons"/>
                  <a:cs typeface="Material Icons"/>
                  <a:sym typeface="Material Icons"/>
                </a:rPr>
                <a:t>dashboard</a:t>
              </a:r>
              <a:endParaRPr sz="1800">
                <a:solidFill>
                  <a:srgbClr val="0077A8"/>
                </a:solidFill>
                <a:latin typeface="Material Icons"/>
                <a:ea typeface="Material Icons"/>
                <a:cs typeface="Material Icons"/>
                <a:sym typeface="Material Icons"/>
              </a:endParaRPr>
            </a:p>
            <a:p>
              <a:pPr indent="0" lvl="0" marL="95250" marR="0" rtl="0" algn="l">
                <a:spcBef>
                  <a:spcPts val="0"/>
                </a:spcBef>
                <a:spcAft>
                  <a:spcPts val="0"/>
                </a:spcAft>
                <a:buNone/>
              </a:pPr>
              <a:r>
                <a:rPr b="1" lang="en-IN" sz="1800">
                  <a:solidFill>
                    <a:srgbClr val="0F172A"/>
                  </a:solidFill>
                  <a:latin typeface="Inter"/>
                  <a:ea typeface="Inter"/>
                  <a:cs typeface="Inter"/>
                  <a:sym typeface="Inter"/>
                </a:rPr>
                <a:t>Dashboard Interface</a:t>
              </a:r>
              <a:endParaRPr b="1" sz="1800">
                <a:solidFill>
                  <a:srgbClr val="0F172A"/>
                </a:solidFill>
                <a:latin typeface="Inter"/>
                <a:ea typeface="Inter"/>
                <a:cs typeface="Inter"/>
                <a:sym typeface="Inter"/>
              </a:endParaRPr>
            </a:p>
            <a:p>
              <a:pPr indent="0" lvl="0" marL="0" rtl="0" algn="l">
                <a:spcBef>
                  <a:spcPts val="1500"/>
                </a:spcBef>
                <a:spcAft>
                  <a:spcPts val="0"/>
                </a:spcAft>
                <a:buNone/>
              </a:pPr>
              <a:r>
                <a:rPr lang="en-IN" sz="1800">
                  <a:solidFill>
                    <a:srgbClr val="475569"/>
                  </a:solidFill>
                  <a:latin typeface="Inter"/>
                  <a:ea typeface="Inter"/>
                  <a:cs typeface="Inter"/>
                  <a:sym typeface="Inter"/>
                </a:rPr>
                <a:t>• </a:t>
              </a:r>
              <a:r>
                <a:rPr lang="en-IN" sz="1800">
                  <a:solidFill>
                    <a:schemeClr val="dk1"/>
                  </a:solidFill>
                  <a:latin typeface="Inter"/>
                  <a:ea typeface="Inter"/>
                  <a:cs typeface="Inter"/>
                  <a:sym typeface="Inter"/>
                </a:rPr>
                <a:t>Ranked research items</a:t>
              </a:r>
              <a:endParaRPr sz="1800">
                <a:solidFill>
                  <a:schemeClr val="dk1"/>
                </a:solidFill>
                <a:latin typeface="Inter"/>
                <a:ea typeface="Inter"/>
                <a:cs typeface="Inter"/>
                <a:sym typeface="Inter"/>
              </a:endParaRPr>
            </a:p>
            <a:p>
              <a:pPr indent="0" lvl="0" marL="0" rtl="0" algn="l">
                <a:spcBef>
                  <a:spcPts val="900"/>
                </a:spcBef>
                <a:spcAft>
                  <a:spcPts val="0"/>
                </a:spcAft>
                <a:buNone/>
              </a:pPr>
              <a:r>
                <a:rPr lang="en-IN" sz="1800">
                  <a:solidFill>
                    <a:schemeClr val="dk1"/>
                  </a:solidFill>
                  <a:latin typeface="Inter"/>
                  <a:ea typeface="Inter"/>
                  <a:cs typeface="Inter"/>
                  <a:sym typeface="Inter"/>
                </a:rPr>
                <a:t>• Evidence panels &amp; analytics</a:t>
              </a:r>
              <a:endParaRPr sz="1800">
                <a:solidFill>
                  <a:schemeClr val="dk1"/>
                </a:solidFill>
                <a:latin typeface="Inter"/>
                <a:ea typeface="Inter"/>
                <a:cs typeface="Inter"/>
                <a:sym typeface="Inter"/>
              </a:endParaRPr>
            </a:p>
            <a:p>
              <a:pPr indent="0" lvl="0" marL="0" rtl="0" algn="l">
                <a:spcBef>
                  <a:spcPts val="900"/>
                </a:spcBef>
                <a:spcAft>
                  <a:spcPts val="0"/>
                </a:spcAft>
                <a:buNone/>
              </a:pPr>
              <a:r>
                <a:rPr lang="en-IN" sz="1800">
                  <a:solidFill>
                    <a:schemeClr val="dk1"/>
                  </a:solidFill>
                  <a:latin typeface="Inter"/>
                  <a:ea typeface="Inter"/>
                  <a:cs typeface="Inter"/>
                  <a:sym typeface="Inter"/>
                </a:rPr>
                <a:t>• Research comparisons</a:t>
              </a:r>
              <a:endParaRPr sz="1800">
                <a:solidFill>
                  <a:schemeClr val="dk1"/>
                </a:solidFill>
                <a:latin typeface="Inter"/>
                <a:ea typeface="Inter"/>
                <a:cs typeface="Inter"/>
                <a:sym typeface="Inter"/>
              </a:endParaRPr>
            </a:p>
            <a:p>
              <a:pPr indent="0" lvl="0" marL="0" rtl="0" algn="l">
                <a:spcBef>
                  <a:spcPts val="900"/>
                </a:spcBef>
                <a:spcAft>
                  <a:spcPts val="0"/>
                </a:spcAft>
                <a:buNone/>
              </a:pPr>
              <a:r>
                <a:rPr lang="en-IN" sz="1800">
                  <a:solidFill>
                    <a:schemeClr val="dk1"/>
                  </a:solidFill>
                  <a:latin typeface="Inter"/>
                  <a:ea typeface="Inter"/>
                  <a:cs typeface="Inter"/>
                  <a:sym typeface="Inter"/>
                </a:rPr>
                <a:t>• Semantic relationship links</a:t>
              </a:r>
              <a:endParaRPr sz="1800">
                <a:solidFill>
                  <a:schemeClr val="dk1"/>
                </a:solidFill>
                <a:latin typeface="Inter"/>
                <a:ea typeface="Inter"/>
                <a:cs typeface="Inter"/>
                <a:sym typeface="Inter"/>
              </a:endParaRPr>
            </a:p>
            <a:p>
              <a:pPr indent="0" lvl="0" marL="0" rtl="0" algn="l">
                <a:spcBef>
                  <a:spcPts val="3000"/>
                </a:spcBef>
                <a:spcAft>
                  <a:spcPts val="0"/>
                </a:spcAft>
                <a:buNone/>
              </a:pPr>
              <a:r>
                <a:t/>
              </a:r>
              <a:endParaRPr i="1" sz="1800">
                <a:solidFill>
                  <a:srgbClr val="94A3B8"/>
                </a:solidFill>
                <a:latin typeface="Inter"/>
                <a:ea typeface="Inter"/>
                <a:cs typeface="Inter"/>
                <a:sym typeface="Inte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2"/>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2"/>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2"/>
          <p:cNvSpPr/>
          <p:nvPr/>
        </p:nvSpPr>
        <p:spPr>
          <a:xfrm>
            <a:off x="609600" y="645187"/>
            <a:ext cx="10972800" cy="85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rPr b="1" lang="en-IN" sz="4267">
                <a:solidFill>
                  <a:schemeClr val="dk1"/>
                </a:solidFill>
                <a:latin typeface="Calibri"/>
                <a:ea typeface="Calibri"/>
                <a:cs typeface="Calibri"/>
                <a:sym typeface="Calibri"/>
              </a:rPr>
              <a:t>Demo/Product Walkthrough</a:t>
            </a:r>
            <a:endParaRPr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4267">
              <a:solidFill>
                <a:schemeClr val="dk1"/>
              </a:solidFill>
              <a:latin typeface="Calibri"/>
              <a:ea typeface="Calibri"/>
              <a:cs typeface="Calibri"/>
              <a:sym typeface="Calibri"/>
            </a:endParaRPr>
          </a:p>
        </p:txBody>
      </p:sp>
      <p:sp>
        <p:nvSpPr>
          <p:cNvPr id="187" name="Google Shape;187;p22"/>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sp>
        <p:nvSpPr>
          <p:cNvPr id="188" name="Google Shape;188;p22"/>
          <p:cNvSpPr txBox="1"/>
          <p:nvPr/>
        </p:nvSpPr>
        <p:spPr>
          <a:xfrm>
            <a:off x="845250" y="1583000"/>
            <a:ext cx="10769100" cy="508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IN" sz="2100">
                <a:solidFill>
                  <a:schemeClr val="dk1"/>
                </a:solidFill>
              </a:rPr>
              <a:t>Step 1 — User Query</a:t>
            </a:r>
            <a:endParaRPr b="1" sz="2100">
              <a:solidFill>
                <a:schemeClr val="dk1"/>
              </a:solidFill>
            </a:endParaRPr>
          </a:p>
          <a:p>
            <a:pPr indent="0" lvl="0" marL="457200" rtl="0" algn="l">
              <a:lnSpc>
                <a:spcPct val="115000"/>
              </a:lnSpc>
              <a:spcBef>
                <a:spcPts val="1200"/>
              </a:spcBef>
              <a:spcAft>
                <a:spcPts val="0"/>
              </a:spcAft>
              <a:buNone/>
            </a:pPr>
            <a:r>
              <a:rPr lang="en-IN" sz="2000">
                <a:solidFill>
                  <a:schemeClr val="dk1"/>
                </a:solidFill>
              </a:rPr>
              <a:t>The workflow begins with the user entering a broad research topic into the system. PRISM is designed to perform more effectively with broader technical queries, allowing multiple sources to contribute relevant results and insights. </a:t>
            </a:r>
            <a:endParaRPr sz="2000">
              <a:solidFill>
                <a:schemeClr val="dk1"/>
              </a:solidFill>
            </a:endParaRPr>
          </a:p>
          <a:p>
            <a:pPr indent="0" lvl="0" marL="457200" rtl="0" algn="l">
              <a:lnSpc>
                <a:spcPct val="115000"/>
              </a:lnSpc>
              <a:spcBef>
                <a:spcPts val="1200"/>
              </a:spcBef>
              <a:spcAft>
                <a:spcPts val="0"/>
              </a:spcAft>
              <a:buNone/>
            </a:pPr>
            <a:r>
              <a:rPr b="1" lang="en-IN" sz="2000">
                <a:solidFill>
                  <a:schemeClr val="dk1"/>
                </a:solidFill>
              </a:rPr>
              <a:t>Example : </a:t>
            </a:r>
            <a:r>
              <a:rPr lang="en-IN" sz="2000">
                <a:solidFill>
                  <a:schemeClr val="dk1"/>
                </a:solidFill>
              </a:rPr>
              <a:t>“Multimodal agents benchmark tool use”</a:t>
            </a:r>
            <a:endParaRPr sz="2000">
              <a:solidFill>
                <a:schemeClr val="dk1"/>
              </a:solidFill>
            </a:endParaRPr>
          </a:p>
          <a:p>
            <a:pPr indent="0" lvl="0" marL="457200" rtl="0" algn="l">
              <a:lnSpc>
                <a:spcPct val="115000"/>
              </a:lnSpc>
              <a:spcBef>
                <a:spcPts val="1200"/>
              </a:spcBef>
              <a:spcAft>
                <a:spcPts val="0"/>
              </a:spcAft>
              <a:buNone/>
            </a:pPr>
            <a:r>
              <a:t/>
            </a:r>
            <a:endParaRPr sz="2000">
              <a:solidFill>
                <a:schemeClr val="dk1"/>
              </a:solidFill>
            </a:endParaRPr>
          </a:p>
          <a:p>
            <a:pPr indent="0" lvl="0" marL="0" rtl="0" algn="l">
              <a:lnSpc>
                <a:spcPct val="115000"/>
              </a:lnSpc>
              <a:spcBef>
                <a:spcPts val="1800"/>
              </a:spcBef>
              <a:spcAft>
                <a:spcPts val="0"/>
              </a:spcAft>
              <a:buNone/>
            </a:pPr>
            <a:r>
              <a:rPr b="1" lang="en-IN" sz="2100">
                <a:solidFill>
                  <a:schemeClr val="dk1"/>
                </a:solidFill>
              </a:rPr>
              <a:t>Step 2 — Data Ingestion</a:t>
            </a:r>
            <a:endParaRPr b="1" sz="2100">
              <a:solidFill>
                <a:schemeClr val="dk1"/>
              </a:solidFill>
            </a:endParaRPr>
          </a:p>
          <a:p>
            <a:pPr indent="0" lvl="0" marL="457200" rtl="0" algn="l">
              <a:lnSpc>
                <a:spcPct val="115000"/>
              </a:lnSpc>
              <a:spcBef>
                <a:spcPts val="1200"/>
              </a:spcBef>
              <a:spcAft>
                <a:spcPts val="0"/>
              </a:spcAft>
              <a:buNone/>
            </a:pPr>
            <a:r>
              <a:rPr lang="en-IN" sz="2000">
                <a:solidFill>
                  <a:schemeClr val="dk1"/>
                </a:solidFill>
              </a:rPr>
              <a:t>PRISM retrieves information from multiple data adapters, including research papers, repositories, models, benchmarks, and RSS feeds. The ingestion pipeline is designed to remain operational even if a particular source fails or returns limited results, ensuring robustness and continuity.</a:t>
            </a:r>
            <a:endParaRPr sz="2000">
              <a:solidFill>
                <a:schemeClr val="dk1"/>
              </a:solidFill>
            </a:endParaRPr>
          </a:p>
          <a:p>
            <a:pPr indent="0" lvl="0" marL="0" rtl="0" algn="l">
              <a:lnSpc>
                <a:spcPct val="115000"/>
              </a:lnSpc>
              <a:spcBef>
                <a:spcPts val="1200"/>
              </a:spcBef>
              <a:spcAft>
                <a:spcPts val="1200"/>
              </a:spcAft>
              <a:buNone/>
            </a:pPr>
            <a:r>
              <a:t/>
            </a:r>
            <a:endParaRPr sz="20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3"/>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3"/>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3"/>
          <p:cNvSpPr/>
          <p:nvPr/>
        </p:nvSpPr>
        <p:spPr>
          <a:xfrm>
            <a:off x="609600" y="407362"/>
            <a:ext cx="10972800" cy="85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rPr b="1" lang="en-IN" sz="4267">
                <a:solidFill>
                  <a:schemeClr val="dk1"/>
                </a:solidFill>
                <a:latin typeface="Calibri"/>
                <a:ea typeface="Calibri"/>
                <a:cs typeface="Calibri"/>
                <a:sym typeface="Calibri"/>
              </a:rPr>
              <a:t>Demo/Product Walkthrough</a:t>
            </a:r>
            <a:endParaRPr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4267">
              <a:solidFill>
                <a:schemeClr val="dk1"/>
              </a:solidFill>
              <a:latin typeface="Calibri"/>
              <a:ea typeface="Calibri"/>
              <a:cs typeface="Calibri"/>
              <a:sym typeface="Calibri"/>
            </a:endParaRPr>
          </a:p>
        </p:txBody>
      </p:sp>
      <p:sp>
        <p:nvSpPr>
          <p:cNvPr id="197" name="Google Shape;197;p23"/>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sp>
        <p:nvSpPr>
          <p:cNvPr id="198" name="Google Shape;198;p23"/>
          <p:cNvSpPr txBox="1"/>
          <p:nvPr/>
        </p:nvSpPr>
        <p:spPr>
          <a:xfrm>
            <a:off x="813400" y="1363598"/>
            <a:ext cx="11036700" cy="508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IN" sz="2100">
                <a:solidFill>
                  <a:schemeClr val="dk1"/>
                </a:solidFill>
              </a:rPr>
              <a:t>Step 3 — Processing Pipeline</a:t>
            </a:r>
            <a:endParaRPr b="1" sz="2100">
              <a:solidFill>
                <a:schemeClr val="dk1"/>
              </a:solidFill>
            </a:endParaRPr>
          </a:p>
          <a:p>
            <a:pPr indent="0" lvl="0" marL="0" rtl="0" algn="l">
              <a:lnSpc>
                <a:spcPct val="115000"/>
              </a:lnSpc>
              <a:spcBef>
                <a:spcPts val="1200"/>
              </a:spcBef>
              <a:spcAft>
                <a:spcPts val="0"/>
              </a:spcAft>
              <a:buNone/>
            </a:pPr>
            <a:r>
              <a:rPr lang="en-IN" sz="2000">
                <a:solidFill>
                  <a:schemeClr val="dk1"/>
                </a:solidFill>
              </a:rPr>
              <a:t>The collected data is normalized into a unified format, linked with related research items, embedded into semantic memory, and analyzed using multiple scoring engines for structured evaluation.</a:t>
            </a:r>
            <a:endParaRPr sz="2000">
              <a:solidFill>
                <a:schemeClr val="dk1"/>
              </a:solidFill>
            </a:endParaRPr>
          </a:p>
          <a:p>
            <a:pPr indent="0" lvl="0" marL="0" rtl="0" algn="l">
              <a:lnSpc>
                <a:spcPct val="115000"/>
              </a:lnSpc>
              <a:spcBef>
                <a:spcPts val="1800"/>
              </a:spcBef>
              <a:spcAft>
                <a:spcPts val="0"/>
              </a:spcAft>
              <a:buNone/>
            </a:pPr>
            <a:r>
              <a:rPr b="1" lang="en-IN" sz="2100">
                <a:solidFill>
                  <a:schemeClr val="dk1"/>
                </a:solidFill>
              </a:rPr>
              <a:t>Step 4 — Score Fusion</a:t>
            </a:r>
            <a:endParaRPr b="1" sz="2100">
              <a:solidFill>
                <a:schemeClr val="dk1"/>
              </a:solidFill>
            </a:endParaRPr>
          </a:p>
          <a:p>
            <a:pPr indent="0" lvl="0" marL="0" rtl="0" algn="l">
              <a:lnSpc>
                <a:spcPct val="115000"/>
              </a:lnSpc>
              <a:spcBef>
                <a:spcPts val="1200"/>
              </a:spcBef>
              <a:spcAft>
                <a:spcPts val="0"/>
              </a:spcAft>
              <a:buNone/>
            </a:pPr>
            <a:r>
              <a:rPr lang="en-IN" sz="2000">
                <a:solidFill>
                  <a:schemeClr val="dk1"/>
                </a:solidFill>
              </a:rPr>
              <a:t>Each research item is evaluated using multiple scoring engines, including Signal, Trust, Debate, Gap, and Cross-Domain analysis. These individual evaluations are combined to generate a final PRISM score for ranking and comparison.</a:t>
            </a:r>
            <a:endParaRPr sz="2000">
              <a:solidFill>
                <a:schemeClr val="dk1"/>
              </a:solidFill>
            </a:endParaRPr>
          </a:p>
          <a:p>
            <a:pPr indent="0" lvl="0" marL="0" rtl="0" algn="l">
              <a:lnSpc>
                <a:spcPct val="115000"/>
              </a:lnSpc>
              <a:spcBef>
                <a:spcPts val="1800"/>
              </a:spcBef>
              <a:spcAft>
                <a:spcPts val="0"/>
              </a:spcAft>
              <a:buNone/>
            </a:pPr>
            <a:r>
              <a:rPr b="1" lang="en-IN" sz="2100">
                <a:solidFill>
                  <a:schemeClr val="dk1"/>
                </a:solidFill>
              </a:rPr>
              <a:t>Step 5 — Dashboard Visualization</a:t>
            </a:r>
            <a:endParaRPr b="1" sz="2100">
              <a:solidFill>
                <a:schemeClr val="dk1"/>
              </a:solidFill>
            </a:endParaRPr>
          </a:p>
          <a:p>
            <a:pPr indent="0" lvl="0" marL="0" rtl="0" algn="l">
              <a:lnSpc>
                <a:spcPct val="115000"/>
              </a:lnSpc>
              <a:spcBef>
                <a:spcPts val="1200"/>
              </a:spcBef>
              <a:spcAft>
                <a:spcPts val="1200"/>
              </a:spcAft>
              <a:buNone/>
            </a:pPr>
            <a:r>
              <a:rPr lang="en-IN" sz="2000">
                <a:solidFill>
                  <a:schemeClr val="dk1"/>
                </a:solidFill>
              </a:rPr>
              <a:t>The frontend dashboard presents the processed results through ranked research queues, source distribution analytics, evidence traces, adoption-gap visualizations, cross-domain radar analysis, and an interactive paper chat interface.</a:t>
            </a:r>
            <a:endParaRPr sz="20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4"/>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4"/>
          <p:cNvSpPr/>
          <p:nvPr/>
        </p:nvSpPr>
        <p:spPr>
          <a:xfrm>
            <a:off x="609600" y="407362"/>
            <a:ext cx="10972800" cy="85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rPr b="1" lang="en-IN" sz="4267">
                <a:solidFill>
                  <a:schemeClr val="dk1"/>
                </a:solidFill>
                <a:latin typeface="Calibri"/>
                <a:ea typeface="Calibri"/>
                <a:cs typeface="Calibri"/>
                <a:sym typeface="Calibri"/>
              </a:rPr>
              <a:t>Dashboard</a:t>
            </a:r>
            <a:endParaRPr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4267">
              <a:solidFill>
                <a:schemeClr val="dk1"/>
              </a:solidFill>
              <a:latin typeface="Calibri"/>
              <a:ea typeface="Calibri"/>
              <a:cs typeface="Calibri"/>
              <a:sym typeface="Calibri"/>
            </a:endParaRPr>
          </a:p>
        </p:txBody>
      </p:sp>
      <p:sp>
        <p:nvSpPr>
          <p:cNvPr id="207" name="Google Shape;207;p24"/>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pic>
        <p:nvPicPr>
          <p:cNvPr id="208" name="Google Shape;208;p24"/>
          <p:cNvPicPr preferRelativeResize="0"/>
          <p:nvPr/>
        </p:nvPicPr>
        <p:blipFill>
          <a:blip r:embed="rId3">
            <a:alphaModFix/>
          </a:blip>
          <a:stretch>
            <a:fillRect/>
          </a:stretch>
        </p:blipFill>
        <p:spPr>
          <a:xfrm>
            <a:off x="292100" y="1765100"/>
            <a:ext cx="5889799" cy="4162624"/>
          </a:xfrm>
          <a:prstGeom prst="rect">
            <a:avLst/>
          </a:prstGeom>
          <a:noFill/>
          <a:ln>
            <a:noFill/>
          </a:ln>
        </p:spPr>
      </p:pic>
      <p:pic>
        <p:nvPicPr>
          <p:cNvPr id="209" name="Google Shape;209;p24"/>
          <p:cNvPicPr preferRelativeResize="0"/>
          <p:nvPr/>
        </p:nvPicPr>
        <p:blipFill>
          <a:blip r:embed="rId4">
            <a:alphaModFix/>
          </a:blip>
          <a:stretch>
            <a:fillRect/>
          </a:stretch>
        </p:blipFill>
        <p:spPr>
          <a:xfrm>
            <a:off x="6275300" y="1765100"/>
            <a:ext cx="5611901" cy="41626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5"/>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5"/>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5"/>
          <p:cNvSpPr/>
          <p:nvPr/>
        </p:nvSpPr>
        <p:spPr>
          <a:xfrm>
            <a:off x="609600" y="407362"/>
            <a:ext cx="10972800" cy="85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rPr b="1" lang="en-IN" sz="4267">
                <a:solidFill>
                  <a:schemeClr val="dk1"/>
                </a:solidFill>
                <a:latin typeface="Calibri"/>
                <a:ea typeface="Calibri"/>
                <a:cs typeface="Calibri"/>
                <a:sym typeface="Calibri"/>
              </a:rPr>
              <a:t>Dashboard</a:t>
            </a:r>
            <a:endParaRPr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4267">
              <a:solidFill>
                <a:schemeClr val="dk1"/>
              </a:solidFill>
              <a:latin typeface="Calibri"/>
              <a:ea typeface="Calibri"/>
              <a:cs typeface="Calibri"/>
              <a:sym typeface="Calibri"/>
            </a:endParaRPr>
          </a:p>
        </p:txBody>
      </p:sp>
      <p:sp>
        <p:nvSpPr>
          <p:cNvPr id="218" name="Google Shape;218;p25"/>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pic>
        <p:nvPicPr>
          <p:cNvPr id="219" name="Google Shape;219;p25"/>
          <p:cNvPicPr preferRelativeResize="0"/>
          <p:nvPr/>
        </p:nvPicPr>
        <p:blipFill>
          <a:blip r:embed="rId3">
            <a:alphaModFix/>
          </a:blip>
          <a:stretch>
            <a:fillRect/>
          </a:stretch>
        </p:blipFill>
        <p:spPr>
          <a:xfrm>
            <a:off x="6312650" y="1886325"/>
            <a:ext cx="5714998" cy="4269124"/>
          </a:xfrm>
          <a:prstGeom prst="rect">
            <a:avLst/>
          </a:prstGeom>
          <a:noFill/>
          <a:ln>
            <a:noFill/>
          </a:ln>
        </p:spPr>
      </p:pic>
      <p:pic>
        <p:nvPicPr>
          <p:cNvPr id="220" name="Google Shape;220;p25"/>
          <p:cNvPicPr preferRelativeResize="0"/>
          <p:nvPr/>
        </p:nvPicPr>
        <p:blipFill>
          <a:blip r:embed="rId4">
            <a:alphaModFix/>
          </a:blip>
          <a:stretch>
            <a:fillRect/>
          </a:stretch>
        </p:blipFill>
        <p:spPr>
          <a:xfrm>
            <a:off x="168100" y="1886325"/>
            <a:ext cx="5939099" cy="4269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5" name="Shape 225"/>
        <p:cNvGrpSpPr/>
        <p:nvPr/>
      </p:nvGrpSpPr>
      <p:grpSpPr>
        <a:xfrm>
          <a:off x="0" y="0"/>
          <a:ext cx="0" cy="0"/>
          <a:chOff x="0" y="0"/>
          <a:chExt cx="0" cy="0"/>
        </a:xfrm>
      </p:grpSpPr>
      <p:sp>
        <p:nvSpPr>
          <p:cNvPr id="226" name="Google Shape;226;p26"/>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6"/>
          <p:cNvSpPr/>
          <p:nvPr/>
        </p:nvSpPr>
        <p:spPr>
          <a:xfrm>
            <a:off x="609600" y="219450"/>
            <a:ext cx="11240400" cy="341400"/>
          </a:xfrm>
          <a:prstGeom prst="roundRect">
            <a:avLst>
              <a:gd fmla="val 11159" name="adj"/>
            </a:avLst>
          </a:prstGeom>
          <a:solidFill>
            <a:srgbClr val="0077A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26"/>
          <p:cNvSpPr txBox="1"/>
          <p:nvPr/>
        </p:nvSpPr>
        <p:spPr>
          <a:xfrm>
            <a:off x="1307792" y="219450"/>
            <a:ext cx="9489600" cy="341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IN" sz="1800">
                <a:solidFill>
                  <a:srgbClr val="FFFFFF"/>
                </a:solidFill>
                <a:latin typeface="Overlock"/>
                <a:ea typeface="Overlock"/>
                <a:cs typeface="Overlock"/>
                <a:sym typeface="Overlock"/>
              </a:rPr>
              <a:t>Full-Stack Research Intelligence Dashboard</a:t>
            </a:r>
            <a:endParaRPr b="1" sz="1800">
              <a:solidFill>
                <a:srgbClr val="FFFFFF"/>
              </a:solidFill>
              <a:latin typeface="Overlock"/>
              <a:ea typeface="Overlock"/>
              <a:cs typeface="Overlock"/>
              <a:sym typeface="Overlock"/>
            </a:endParaRPr>
          </a:p>
        </p:txBody>
      </p:sp>
      <p:sp>
        <p:nvSpPr>
          <p:cNvPr id="229" name="Google Shape;229;p26"/>
          <p:cNvSpPr/>
          <p:nvPr/>
        </p:nvSpPr>
        <p:spPr>
          <a:xfrm>
            <a:off x="609600" y="714375"/>
            <a:ext cx="10972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IN" sz="3600">
                <a:solidFill>
                  <a:srgbClr val="0F172A"/>
                </a:solidFill>
                <a:latin typeface="Calibri"/>
                <a:ea typeface="Calibri"/>
                <a:cs typeface="Calibri"/>
                <a:sym typeface="Calibri"/>
              </a:rPr>
              <a:t>Tech Stack</a:t>
            </a:r>
            <a:endParaRPr b="1" i="0" sz="3600">
              <a:solidFill>
                <a:srgbClr val="0F172A"/>
              </a:solidFill>
              <a:latin typeface="Calibri"/>
              <a:ea typeface="Calibri"/>
              <a:cs typeface="Calibri"/>
              <a:sym typeface="Calibri"/>
            </a:endParaRPr>
          </a:p>
        </p:txBody>
      </p:sp>
      <p:grpSp>
        <p:nvGrpSpPr>
          <p:cNvPr id="230" name="Google Shape;230;p26"/>
          <p:cNvGrpSpPr/>
          <p:nvPr/>
        </p:nvGrpSpPr>
        <p:grpSpPr>
          <a:xfrm>
            <a:off x="609600" y="1524000"/>
            <a:ext cx="3524400" cy="4572000"/>
            <a:chOff x="609600" y="1524000"/>
            <a:chExt cx="3524400" cy="4572000"/>
          </a:xfrm>
        </p:grpSpPr>
        <p:sp>
          <p:nvSpPr>
            <p:cNvPr id="231" name="Google Shape;231;p26"/>
            <p:cNvSpPr/>
            <p:nvPr/>
          </p:nvSpPr>
          <p:spPr>
            <a:xfrm>
              <a:off x="609600" y="1524000"/>
              <a:ext cx="3524400" cy="4572000"/>
            </a:xfrm>
            <a:prstGeom prst="roundRect">
              <a:avLst>
                <a:gd fmla="val 324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6"/>
            <p:cNvSpPr/>
            <p:nvPr/>
          </p:nvSpPr>
          <p:spPr>
            <a:xfrm>
              <a:off x="609600" y="1524000"/>
              <a:ext cx="3524400" cy="571500"/>
            </a:xfrm>
            <a:prstGeom prst="roundRect">
              <a:avLst>
                <a:gd fmla="val 20000" name="adj"/>
              </a:avLst>
            </a:prstGeom>
            <a:solidFill>
              <a:srgbClr val="0077A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26"/>
            <p:cNvSpPr/>
            <p:nvPr/>
          </p:nvSpPr>
          <p:spPr>
            <a:xfrm>
              <a:off x="609600" y="1905000"/>
              <a:ext cx="3524400" cy="190500"/>
            </a:xfrm>
            <a:prstGeom prst="rect">
              <a:avLst/>
            </a:prstGeom>
            <a:solidFill>
              <a:srgbClr val="0077A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 name="Google Shape;234;p26"/>
            <p:cNvSpPr txBox="1"/>
            <p:nvPr/>
          </p:nvSpPr>
          <p:spPr>
            <a:xfrm>
              <a:off x="609600" y="1524000"/>
              <a:ext cx="35244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IN" sz="2200">
                  <a:solidFill>
                    <a:srgbClr val="FFFFFF"/>
                  </a:solidFill>
                  <a:latin typeface="Calibri"/>
                  <a:ea typeface="Calibri"/>
                  <a:cs typeface="Calibri"/>
                  <a:sym typeface="Calibri"/>
                </a:rPr>
                <a:t>Backend</a:t>
              </a:r>
              <a:endParaRPr b="1" sz="2200">
                <a:solidFill>
                  <a:srgbClr val="FFFFFF"/>
                </a:solidFill>
                <a:latin typeface="Calibri"/>
                <a:ea typeface="Calibri"/>
                <a:cs typeface="Calibri"/>
                <a:sym typeface="Calibri"/>
              </a:endParaRPr>
            </a:p>
          </p:txBody>
        </p:sp>
        <p:sp>
          <p:nvSpPr>
            <p:cNvPr id="235" name="Google Shape;235;p26"/>
            <p:cNvSpPr txBox="1"/>
            <p:nvPr/>
          </p:nvSpPr>
          <p:spPr>
            <a:xfrm>
              <a:off x="800100" y="2238375"/>
              <a:ext cx="3143400" cy="36672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334155"/>
                </a:buClr>
                <a:buSzPts val="1800"/>
                <a:buFont typeface="Arial"/>
                <a:buChar char="●"/>
              </a:pPr>
              <a:r>
                <a:rPr lang="en-IN" sz="1800">
                  <a:solidFill>
                    <a:srgbClr val="0F172A"/>
                  </a:solidFill>
                </a:rPr>
                <a:t>FastAPI</a:t>
              </a:r>
              <a:endParaRPr sz="1800">
                <a:solidFill>
                  <a:srgbClr val="334155"/>
                </a:solidFill>
              </a:endParaRPr>
            </a:p>
            <a:p>
              <a:pPr indent="-342900" lvl="0" marL="457200" rtl="0" algn="l">
                <a:spcBef>
                  <a:spcPts val="1500"/>
                </a:spcBef>
                <a:spcAft>
                  <a:spcPts val="0"/>
                </a:spcAft>
                <a:buClr>
                  <a:srgbClr val="334155"/>
                </a:buClr>
                <a:buSzPts val="1800"/>
                <a:buFont typeface="Arial"/>
                <a:buChar char="●"/>
              </a:pPr>
              <a:r>
                <a:rPr lang="en-IN" sz="1800">
                  <a:solidFill>
                    <a:srgbClr val="0F172A"/>
                  </a:solidFill>
                </a:rPr>
                <a:t>SQLAlchemy</a:t>
              </a:r>
              <a:endParaRPr sz="1800">
                <a:solidFill>
                  <a:srgbClr val="334155"/>
                </a:solidFill>
              </a:endParaRPr>
            </a:p>
            <a:p>
              <a:pPr indent="-342900" lvl="0" marL="457200" rtl="0" algn="l">
                <a:spcBef>
                  <a:spcPts val="1500"/>
                </a:spcBef>
                <a:spcAft>
                  <a:spcPts val="0"/>
                </a:spcAft>
                <a:buClr>
                  <a:srgbClr val="334155"/>
                </a:buClr>
                <a:buSzPts val="1800"/>
                <a:buFont typeface="Arial"/>
                <a:buChar char="●"/>
              </a:pPr>
              <a:r>
                <a:rPr lang="en-IN" sz="1800">
                  <a:solidFill>
                    <a:srgbClr val="0F172A"/>
                  </a:solidFill>
                </a:rPr>
                <a:t>SQLite</a:t>
              </a:r>
              <a:endParaRPr sz="1800">
                <a:solidFill>
                  <a:srgbClr val="334155"/>
                </a:solidFill>
              </a:endParaRPr>
            </a:p>
            <a:p>
              <a:pPr indent="-342900" lvl="0" marL="457200" rtl="0" algn="l">
                <a:spcBef>
                  <a:spcPts val="1500"/>
                </a:spcBef>
                <a:spcAft>
                  <a:spcPts val="0"/>
                </a:spcAft>
                <a:buClr>
                  <a:srgbClr val="334155"/>
                </a:buClr>
                <a:buSzPts val="1800"/>
                <a:buFont typeface="Arial"/>
                <a:buChar char="●"/>
              </a:pPr>
              <a:r>
                <a:rPr lang="en-IN" sz="1800">
                  <a:solidFill>
                    <a:srgbClr val="0F172A"/>
                  </a:solidFill>
                </a:rPr>
                <a:t>Pydantic</a:t>
              </a:r>
              <a:endParaRPr sz="1800">
                <a:solidFill>
                  <a:srgbClr val="334155"/>
                </a:solidFill>
              </a:endParaRPr>
            </a:p>
            <a:p>
              <a:pPr indent="-342900" lvl="0" marL="457200" rtl="0" algn="l">
                <a:spcBef>
                  <a:spcPts val="1500"/>
                </a:spcBef>
                <a:spcAft>
                  <a:spcPts val="1500"/>
                </a:spcAft>
                <a:buClr>
                  <a:srgbClr val="334155"/>
                </a:buClr>
                <a:buSzPts val="1800"/>
                <a:buFont typeface="Arial"/>
                <a:buChar char="●"/>
              </a:pPr>
              <a:r>
                <a:rPr lang="en-IN" sz="1800">
                  <a:solidFill>
                    <a:srgbClr val="0F172A"/>
                  </a:solidFill>
                </a:rPr>
                <a:t>APScheduler</a:t>
              </a:r>
              <a:endParaRPr sz="1800">
                <a:solidFill>
                  <a:srgbClr val="334155"/>
                </a:solidFill>
              </a:endParaRPr>
            </a:p>
          </p:txBody>
        </p:sp>
      </p:grpSp>
      <p:grpSp>
        <p:nvGrpSpPr>
          <p:cNvPr id="236" name="Google Shape;236;p26"/>
          <p:cNvGrpSpPr/>
          <p:nvPr/>
        </p:nvGrpSpPr>
        <p:grpSpPr>
          <a:xfrm>
            <a:off x="4333875" y="1524000"/>
            <a:ext cx="3524400" cy="4572000"/>
            <a:chOff x="4333875" y="1524000"/>
            <a:chExt cx="3524400" cy="4572000"/>
          </a:xfrm>
        </p:grpSpPr>
        <p:sp>
          <p:nvSpPr>
            <p:cNvPr id="237" name="Google Shape;237;p26"/>
            <p:cNvSpPr/>
            <p:nvPr/>
          </p:nvSpPr>
          <p:spPr>
            <a:xfrm>
              <a:off x="4333875" y="1524000"/>
              <a:ext cx="3524400" cy="4572000"/>
            </a:xfrm>
            <a:prstGeom prst="roundRect">
              <a:avLst>
                <a:gd fmla="val 324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26"/>
            <p:cNvSpPr/>
            <p:nvPr/>
          </p:nvSpPr>
          <p:spPr>
            <a:xfrm>
              <a:off x="4333875" y="1524000"/>
              <a:ext cx="3524400" cy="571500"/>
            </a:xfrm>
            <a:prstGeom prst="roundRect">
              <a:avLst>
                <a:gd fmla="val 20000" name="adj"/>
              </a:avLst>
            </a:prstGeom>
            <a:solidFill>
              <a:srgbClr val="00B4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26"/>
            <p:cNvSpPr/>
            <p:nvPr/>
          </p:nvSpPr>
          <p:spPr>
            <a:xfrm>
              <a:off x="4333875" y="1905000"/>
              <a:ext cx="3524400" cy="190500"/>
            </a:xfrm>
            <a:prstGeom prst="rect">
              <a:avLst/>
            </a:prstGeom>
            <a:solidFill>
              <a:srgbClr val="00B4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26"/>
            <p:cNvSpPr txBox="1"/>
            <p:nvPr/>
          </p:nvSpPr>
          <p:spPr>
            <a:xfrm>
              <a:off x="4333875" y="1524000"/>
              <a:ext cx="35244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IN" sz="2200">
                  <a:solidFill>
                    <a:srgbClr val="FFFFFF"/>
                  </a:solidFill>
                  <a:latin typeface="Calibri"/>
                  <a:ea typeface="Calibri"/>
                  <a:cs typeface="Calibri"/>
                  <a:sym typeface="Calibri"/>
                </a:rPr>
                <a:t>Frontend</a:t>
              </a:r>
              <a:endParaRPr b="1" sz="2200">
                <a:solidFill>
                  <a:srgbClr val="FFFFFF"/>
                </a:solidFill>
                <a:latin typeface="Calibri"/>
                <a:ea typeface="Calibri"/>
                <a:cs typeface="Calibri"/>
                <a:sym typeface="Calibri"/>
              </a:endParaRPr>
            </a:p>
          </p:txBody>
        </p:sp>
        <p:sp>
          <p:nvSpPr>
            <p:cNvPr id="241" name="Google Shape;241;p26"/>
            <p:cNvSpPr txBox="1"/>
            <p:nvPr/>
          </p:nvSpPr>
          <p:spPr>
            <a:xfrm>
              <a:off x="4524375" y="2238375"/>
              <a:ext cx="3143400" cy="36672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334155"/>
                </a:buClr>
                <a:buSzPts val="1800"/>
                <a:buFont typeface="Arial"/>
                <a:buChar char="●"/>
              </a:pPr>
              <a:r>
                <a:rPr lang="en-IN" sz="1800">
                  <a:solidFill>
                    <a:srgbClr val="0F172A"/>
                  </a:solidFill>
                </a:rPr>
                <a:t>React</a:t>
              </a:r>
              <a:endParaRPr sz="1800">
                <a:solidFill>
                  <a:srgbClr val="334155"/>
                </a:solidFill>
              </a:endParaRPr>
            </a:p>
            <a:p>
              <a:pPr indent="-342900" lvl="0" marL="457200" rtl="0" algn="l">
                <a:spcBef>
                  <a:spcPts val="900"/>
                </a:spcBef>
                <a:spcAft>
                  <a:spcPts val="0"/>
                </a:spcAft>
                <a:buClr>
                  <a:srgbClr val="334155"/>
                </a:buClr>
                <a:buSzPts val="1800"/>
                <a:buFont typeface="Arial"/>
                <a:buChar char="●"/>
              </a:pPr>
              <a:r>
                <a:rPr lang="en-IN" sz="1800">
                  <a:solidFill>
                    <a:srgbClr val="0F172A"/>
                  </a:solidFill>
                </a:rPr>
                <a:t>Vite</a:t>
              </a:r>
              <a:endParaRPr sz="1800">
                <a:solidFill>
                  <a:srgbClr val="334155"/>
                </a:solidFill>
              </a:endParaRPr>
            </a:p>
            <a:p>
              <a:pPr indent="-342900" lvl="0" marL="457200" rtl="0" algn="l">
                <a:spcBef>
                  <a:spcPts val="900"/>
                </a:spcBef>
                <a:spcAft>
                  <a:spcPts val="0"/>
                </a:spcAft>
                <a:buClr>
                  <a:srgbClr val="334155"/>
                </a:buClr>
                <a:buSzPts val="1800"/>
                <a:buFont typeface="Arial"/>
                <a:buChar char="●"/>
              </a:pPr>
              <a:r>
                <a:rPr lang="en-IN" sz="1800">
                  <a:solidFill>
                    <a:srgbClr val="0F172A"/>
                  </a:solidFill>
                </a:rPr>
                <a:t>TypeScript</a:t>
              </a:r>
              <a:endParaRPr sz="1800">
                <a:solidFill>
                  <a:srgbClr val="334155"/>
                </a:solidFill>
              </a:endParaRPr>
            </a:p>
            <a:p>
              <a:pPr indent="-342900" lvl="0" marL="457200" rtl="0" algn="l">
                <a:spcBef>
                  <a:spcPts val="900"/>
                </a:spcBef>
                <a:spcAft>
                  <a:spcPts val="0"/>
                </a:spcAft>
                <a:buClr>
                  <a:srgbClr val="334155"/>
                </a:buClr>
                <a:buSzPts val="1800"/>
                <a:buFont typeface="Arial"/>
                <a:buChar char="●"/>
              </a:pPr>
              <a:r>
                <a:rPr lang="en-IN" sz="1800">
                  <a:solidFill>
                    <a:srgbClr val="0F172A"/>
                  </a:solidFill>
                </a:rPr>
                <a:t>Tailwind CSS</a:t>
              </a:r>
              <a:endParaRPr sz="1800">
                <a:solidFill>
                  <a:srgbClr val="334155"/>
                </a:solidFill>
              </a:endParaRPr>
            </a:p>
            <a:p>
              <a:pPr indent="-342900" lvl="0" marL="457200" rtl="0" algn="l">
                <a:spcBef>
                  <a:spcPts val="900"/>
                </a:spcBef>
                <a:spcAft>
                  <a:spcPts val="0"/>
                </a:spcAft>
                <a:buClr>
                  <a:srgbClr val="334155"/>
                </a:buClr>
                <a:buSzPts val="1800"/>
                <a:buFont typeface="Arial"/>
                <a:buChar char="●"/>
              </a:pPr>
              <a:r>
                <a:rPr lang="en-IN" sz="1800">
                  <a:solidFill>
                    <a:srgbClr val="0F172A"/>
                  </a:solidFill>
                </a:rPr>
                <a:t>Recharts</a:t>
              </a:r>
              <a:endParaRPr sz="1800">
                <a:solidFill>
                  <a:srgbClr val="334155"/>
                </a:solidFill>
              </a:endParaRPr>
            </a:p>
            <a:p>
              <a:pPr indent="-342900" lvl="0" marL="457200" rtl="0" algn="l">
                <a:spcBef>
                  <a:spcPts val="900"/>
                </a:spcBef>
                <a:spcAft>
                  <a:spcPts val="900"/>
                </a:spcAft>
                <a:buClr>
                  <a:srgbClr val="334155"/>
                </a:buClr>
                <a:buSzPts val="1800"/>
                <a:buFont typeface="Arial"/>
                <a:buChar char="●"/>
              </a:pPr>
              <a:r>
                <a:rPr lang="en-IN" sz="1800">
                  <a:solidFill>
                    <a:srgbClr val="0F172A"/>
                  </a:solidFill>
                </a:rPr>
                <a:t>Framer Motion</a:t>
              </a:r>
              <a:endParaRPr sz="1800">
                <a:solidFill>
                  <a:srgbClr val="334155"/>
                </a:solidFill>
              </a:endParaRPr>
            </a:p>
          </p:txBody>
        </p:sp>
      </p:grpSp>
      <p:grpSp>
        <p:nvGrpSpPr>
          <p:cNvPr id="242" name="Google Shape;242;p26"/>
          <p:cNvGrpSpPr/>
          <p:nvPr/>
        </p:nvGrpSpPr>
        <p:grpSpPr>
          <a:xfrm>
            <a:off x="8058150" y="1524000"/>
            <a:ext cx="3524400" cy="4572000"/>
            <a:chOff x="8058150" y="1524000"/>
            <a:chExt cx="3524400" cy="4572000"/>
          </a:xfrm>
        </p:grpSpPr>
        <p:sp>
          <p:nvSpPr>
            <p:cNvPr id="243" name="Google Shape;243;p26"/>
            <p:cNvSpPr/>
            <p:nvPr/>
          </p:nvSpPr>
          <p:spPr>
            <a:xfrm>
              <a:off x="8058150" y="1524000"/>
              <a:ext cx="3524400" cy="4572000"/>
            </a:xfrm>
            <a:prstGeom prst="roundRect">
              <a:avLst>
                <a:gd fmla="val 324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6"/>
            <p:cNvSpPr/>
            <p:nvPr/>
          </p:nvSpPr>
          <p:spPr>
            <a:xfrm>
              <a:off x="8058150" y="1524000"/>
              <a:ext cx="3524400" cy="571500"/>
            </a:xfrm>
            <a:prstGeom prst="roundRect">
              <a:avLst>
                <a:gd fmla="val 20000" name="adj"/>
              </a:avLst>
            </a:prstGeom>
            <a:solidFill>
              <a:srgbClr val="33415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26"/>
            <p:cNvSpPr/>
            <p:nvPr/>
          </p:nvSpPr>
          <p:spPr>
            <a:xfrm>
              <a:off x="8058150" y="1905000"/>
              <a:ext cx="3524400" cy="190500"/>
            </a:xfrm>
            <a:prstGeom prst="rect">
              <a:avLst/>
            </a:prstGeom>
            <a:solidFill>
              <a:srgbClr val="33415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26"/>
            <p:cNvSpPr txBox="1"/>
            <p:nvPr/>
          </p:nvSpPr>
          <p:spPr>
            <a:xfrm>
              <a:off x="8058150" y="1524000"/>
              <a:ext cx="35244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IN" sz="2000">
                  <a:solidFill>
                    <a:srgbClr val="FFFFFF"/>
                  </a:solidFill>
                  <a:latin typeface="Calibri"/>
                  <a:ea typeface="Calibri"/>
                  <a:cs typeface="Calibri"/>
                  <a:sym typeface="Calibri"/>
                </a:rPr>
                <a:t>AI &amp; Analysis</a:t>
              </a:r>
              <a:endParaRPr b="1" sz="2000">
                <a:solidFill>
                  <a:srgbClr val="FFFFFF"/>
                </a:solidFill>
                <a:latin typeface="Calibri"/>
                <a:ea typeface="Calibri"/>
                <a:cs typeface="Calibri"/>
                <a:sym typeface="Calibri"/>
              </a:endParaRPr>
            </a:p>
          </p:txBody>
        </p:sp>
        <p:sp>
          <p:nvSpPr>
            <p:cNvPr id="247" name="Google Shape;247;p26"/>
            <p:cNvSpPr txBox="1"/>
            <p:nvPr/>
          </p:nvSpPr>
          <p:spPr>
            <a:xfrm>
              <a:off x="8248650" y="2238375"/>
              <a:ext cx="3143400" cy="3667200"/>
            </a:xfrm>
            <a:prstGeom prst="rect">
              <a:avLst/>
            </a:prstGeom>
            <a:noFill/>
            <a:ln>
              <a:noFill/>
            </a:ln>
          </p:spPr>
          <p:txBody>
            <a:bodyPr anchorCtr="0" anchor="t" bIns="0" lIns="0" spcFirstLastPara="1" rIns="0" wrap="square" tIns="0">
              <a:noAutofit/>
            </a:bodyPr>
            <a:lstStyle/>
            <a:p>
              <a:pPr indent="-342900" lvl="0" marL="457200" rtl="0" algn="l">
                <a:spcBef>
                  <a:spcPts val="0"/>
                </a:spcBef>
                <a:spcAft>
                  <a:spcPts val="0"/>
                </a:spcAft>
                <a:buClr>
                  <a:srgbClr val="334155"/>
                </a:buClr>
                <a:buSzPts val="1800"/>
                <a:buFont typeface="Arial"/>
                <a:buChar char="●"/>
              </a:pPr>
              <a:r>
                <a:rPr lang="en-IN" sz="1800">
                  <a:solidFill>
                    <a:srgbClr val="0F172A"/>
                  </a:solidFill>
                </a:rPr>
                <a:t>Groq API</a:t>
              </a:r>
              <a:endParaRPr sz="1800">
                <a:solidFill>
                  <a:srgbClr val="334155"/>
                </a:solidFill>
              </a:endParaRPr>
            </a:p>
            <a:p>
              <a:pPr indent="-342900" lvl="0" marL="457200" rtl="0" algn="l">
                <a:spcBef>
                  <a:spcPts val="1500"/>
                </a:spcBef>
                <a:spcAft>
                  <a:spcPts val="0"/>
                </a:spcAft>
                <a:buClr>
                  <a:srgbClr val="334155"/>
                </a:buClr>
                <a:buSzPts val="1800"/>
                <a:buFont typeface="Arial"/>
                <a:buChar char="●"/>
              </a:pPr>
              <a:r>
                <a:rPr lang="en-IN" sz="1800">
                  <a:solidFill>
                    <a:srgbClr val="0F172A"/>
                  </a:solidFill>
                </a:rPr>
                <a:t>Ollama Fallback</a:t>
              </a:r>
              <a:endParaRPr sz="1800">
                <a:solidFill>
                  <a:srgbClr val="334155"/>
                </a:solidFill>
              </a:endParaRPr>
            </a:p>
            <a:p>
              <a:pPr indent="-342900" lvl="0" marL="457200" rtl="0" algn="l">
                <a:spcBef>
                  <a:spcPts val="1500"/>
                </a:spcBef>
                <a:spcAft>
                  <a:spcPts val="0"/>
                </a:spcAft>
                <a:buClr>
                  <a:srgbClr val="334155"/>
                </a:buClr>
                <a:buSzPts val="1800"/>
                <a:buFont typeface="Arial"/>
                <a:buChar char="●"/>
              </a:pPr>
              <a:r>
                <a:rPr lang="en-IN" sz="1800">
                  <a:solidFill>
                    <a:srgbClr val="0F172A"/>
                  </a:solidFill>
                </a:rPr>
                <a:t>ChromaDB</a:t>
              </a:r>
              <a:endParaRPr sz="1800">
                <a:solidFill>
                  <a:srgbClr val="334155"/>
                </a:solidFill>
              </a:endParaRPr>
            </a:p>
            <a:p>
              <a:pPr indent="-342900" lvl="0" marL="457200" rtl="0" algn="l">
                <a:spcBef>
                  <a:spcPts val="1500"/>
                </a:spcBef>
                <a:spcAft>
                  <a:spcPts val="1500"/>
                </a:spcAft>
                <a:buClr>
                  <a:srgbClr val="334155"/>
                </a:buClr>
                <a:buSzPts val="1800"/>
                <a:buFont typeface="Arial"/>
                <a:buChar char="●"/>
              </a:pPr>
              <a:r>
                <a:rPr lang="en-IN" sz="1800">
                  <a:solidFill>
                    <a:srgbClr val="0F172A"/>
                  </a:solidFill>
                </a:rPr>
                <a:t>Embedding Retrieval</a:t>
              </a:r>
              <a:endParaRPr sz="1800">
                <a:solidFill>
                  <a:srgbClr val="334155"/>
                </a:solidFil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7"/>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7"/>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7"/>
          <p:cNvSpPr/>
          <p:nvPr/>
        </p:nvSpPr>
        <p:spPr>
          <a:xfrm>
            <a:off x="609600" y="407362"/>
            <a:ext cx="10972800" cy="85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rPr b="1" lang="en-IN" sz="4267">
                <a:solidFill>
                  <a:schemeClr val="dk1"/>
                </a:solidFill>
                <a:latin typeface="Calibri"/>
                <a:ea typeface="Calibri"/>
                <a:cs typeface="Calibri"/>
                <a:sym typeface="Calibri"/>
              </a:rPr>
              <a:t>Architecture</a:t>
            </a:r>
            <a:endParaRPr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4267">
              <a:solidFill>
                <a:schemeClr val="dk1"/>
              </a:solidFill>
              <a:latin typeface="Calibri"/>
              <a:ea typeface="Calibri"/>
              <a:cs typeface="Calibri"/>
              <a:sym typeface="Calibri"/>
            </a:endParaRPr>
          </a:p>
        </p:txBody>
      </p:sp>
      <p:sp>
        <p:nvSpPr>
          <p:cNvPr id="256" name="Google Shape;256;p27"/>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sp>
        <p:nvSpPr>
          <p:cNvPr id="257" name="Google Shape;257;p27"/>
          <p:cNvSpPr txBox="1"/>
          <p:nvPr/>
        </p:nvSpPr>
        <p:spPr>
          <a:xfrm>
            <a:off x="845250" y="1583000"/>
            <a:ext cx="10769100" cy="508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sz="2000">
              <a:solidFill>
                <a:schemeClr val="dk1"/>
              </a:solidFill>
            </a:endParaRPr>
          </a:p>
        </p:txBody>
      </p:sp>
      <p:pic>
        <p:nvPicPr>
          <p:cNvPr id="258" name="Google Shape;258;p27"/>
          <p:cNvPicPr preferRelativeResize="0"/>
          <p:nvPr/>
        </p:nvPicPr>
        <p:blipFill>
          <a:blip r:embed="rId3">
            <a:alphaModFix/>
          </a:blip>
          <a:stretch>
            <a:fillRect/>
          </a:stretch>
        </p:blipFill>
        <p:spPr>
          <a:xfrm>
            <a:off x="1436063" y="1436274"/>
            <a:ext cx="9319864" cy="50876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8"/>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8"/>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p:nvPr/>
        </p:nvSpPr>
        <p:spPr>
          <a:xfrm>
            <a:off x="609600" y="521121"/>
            <a:ext cx="10972800" cy="85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rPr b="1" lang="en-IN" sz="4267">
                <a:solidFill>
                  <a:schemeClr val="dk1"/>
                </a:solidFill>
                <a:latin typeface="Calibri"/>
                <a:ea typeface="Calibri"/>
                <a:cs typeface="Calibri"/>
                <a:sym typeface="Calibri"/>
              </a:rPr>
              <a:t>Impact &amp; Use cases</a:t>
            </a:r>
            <a:endParaRPr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4267">
              <a:solidFill>
                <a:schemeClr val="dk1"/>
              </a:solidFill>
              <a:latin typeface="Calibri"/>
              <a:ea typeface="Calibri"/>
              <a:cs typeface="Calibri"/>
              <a:sym typeface="Calibri"/>
            </a:endParaRPr>
          </a:p>
        </p:txBody>
      </p:sp>
      <p:sp>
        <p:nvSpPr>
          <p:cNvPr id="267" name="Google Shape;267;p28"/>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sp>
        <p:nvSpPr>
          <p:cNvPr id="268" name="Google Shape;268;p28"/>
          <p:cNvSpPr txBox="1"/>
          <p:nvPr/>
        </p:nvSpPr>
        <p:spPr>
          <a:xfrm>
            <a:off x="845250" y="1583000"/>
            <a:ext cx="10769100" cy="508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sz="2000">
              <a:solidFill>
                <a:schemeClr val="dk1"/>
              </a:solidFill>
            </a:endParaRPr>
          </a:p>
        </p:txBody>
      </p:sp>
      <p:sp>
        <p:nvSpPr>
          <p:cNvPr id="269" name="Google Shape;269;p28"/>
          <p:cNvSpPr txBox="1"/>
          <p:nvPr/>
        </p:nvSpPr>
        <p:spPr>
          <a:xfrm>
            <a:off x="642025" y="1532100"/>
            <a:ext cx="11240400" cy="488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i="1" lang="en-IN" sz="1900">
                <a:solidFill>
                  <a:schemeClr val="dk1"/>
                </a:solidFill>
              </a:rPr>
              <a:t>Use Case 1 — Research Exploration</a:t>
            </a:r>
            <a:endParaRPr b="1" i="1"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1900">
                <a:solidFill>
                  <a:schemeClr val="dk1"/>
                </a:solidFill>
              </a:rPr>
              <a:t>Researchers can utilize the platform to systematically explore and evaluate scientific literature by comparing related publications, verifying implementation availability, identifying highly active research areas, and examining supporting evidence associated with specific methodologies or claims.</a:t>
            </a:r>
            <a:endParaRPr sz="19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i="1" lang="en-IN" sz="1900">
                <a:solidFill>
                  <a:schemeClr val="dk1"/>
                </a:solidFill>
              </a:rPr>
              <a:t>Use Case 2 — Technology Monitoring</a:t>
            </a:r>
            <a:endParaRPr b="1" i="1" sz="19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1900">
                <a:solidFill>
                  <a:schemeClr val="dk1"/>
                </a:solidFill>
              </a:rPr>
              <a:t>Product, research, and innovation teams can employ the system to monitor technological trends, identify emerging techniques, and analyze adoption signals across multiple domains to support strategic decision-making and technology assessment.</a:t>
            </a:r>
            <a:endParaRPr sz="19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i="1" lang="en-IN" sz="1900">
                <a:solidFill>
                  <a:schemeClr val="dk1"/>
                </a:solidFill>
              </a:rPr>
              <a:t>Use Case 3 — Learning &amp; Education</a:t>
            </a:r>
            <a:endParaRPr b="1" i="1" sz="1900">
              <a:solidFill>
                <a:schemeClr val="dk1"/>
              </a:solidFill>
            </a:endParaRPr>
          </a:p>
          <a:p>
            <a:pPr indent="0" lvl="0" marL="0" rtl="0" algn="l">
              <a:lnSpc>
                <a:spcPct val="115000"/>
              </a:lnSpc>
              <a:spcBef>
                <a:spcPts val="1200"/>
              </a:spcBef>
              <a:spcAft>
                <a:spcPts val="1200"/>
              </a:spcAft>
              <a:buNone/>
            </a:pPr>
            <a:r>
              <a:rPr lang="en-IN" sz="1900">
                <a:solidFill>
                  <a:schemeClr val="dk1"/>
                </a:solidFill>
              </a:rPr>
              <a:t>Students and learners can leverage the platform to discover related academic resources, navigate complex research topics more efficiently, and identify influential repositories, datasets, and benchmark systems relevant to their area of study.</a:t>
            </a:r>
            <a:endParaRPr sz="19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9"/>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9"/>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9"/>
          <p:cNvSpPr/>
          <p:nvPr/>
        </p:nvSpPr>
        <p:spPr>
          <a:xfrm>
            <a:off x="609600" y="521121"/>
            <a:ext cx="10972800" cy="85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rPr b="1" lang="en-IN" sz="4267">
                <a:solidFill>
                  <a:schemeClr val="dk1"/>
                </a:solidFill>
                <a:latin typeface="Calibri"/>
                <a:ea typeface="Calibri"/>
                <a:cs typeface="Calibri"/>
                <a:sym typeface="Calibri"/>
              </a:rPr>
              <a:t>Impact &amp; Use cases</a:t>
            </a:r>
            <a:endParaRPr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4267">
              <a:solidFill>
                <a:schemeClr val="dk1"/>
              </a:solidFill>
              <a:latin typeface="Calibri"/>
              <a:ea typeface="Calibri"/>
              <a:cs typeface="Calibri"/>
              <a:sym typeface="Calibri"/>
            </a:endParaRPr>
          </a:p>
        </p:txBody>
      </p:sp>
      <p:sp>
        <p:nvSpPr>
          <p:cNvPr id="278" name="Google Shape;278;p29"/>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sp>
        <p:nvSpPr>
          <p:cNvPr id="279" name="Google Shape;279;p29"/>
          <p:cNvSpPr txBox="1"/>
          <p:nvPr/>
        </p:nvSpPr>
        <p:spPr>
          <a:xfrm>
            <a:off x="845250" y="1583000"/>
            <a:ext cx="10769100" cy="508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sz="2000">
              <a:solidFill>
                <a:schemeClr val="dk1"/>
              </a:solidFill>
            </a:endParaRPr>
          </a:p>
        </p:txBody>
      </p:sp>
      <p:sp>
        <p:nvSpPr>
          <p:cNvPr id="280" name="Google Shape;280;p29"/>
          <p:cNvSpPr txBox="1"/>
          <p:nvPr/>
        </p:nvSpPr>
        <p:spPr>
          <a:xfrm>
            <a:off x="642025" y="1532100"/>
            <a:ext cx="11240400" cy="488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i="1" lang="en-IN" sz="1900">
                <a:solidFill>
                  <a:schemeClr val="dk1"/>
                </a:solidFill>
              </a:rPr>
              <a:t>Use Case 4 — Cross-Domain Analysis</a:t>
            </a:r>
            <a:endParaRPr b="1" i="1" sz="1900">
              <a:solidFill>
                <a:schemeClr val="dk1"/>
              </a:solidFill>
            </a:endParaRPr>
          </a:p>
          <a:p>
            <a:pPr indent="0" lvl="0" marL="0" rtl="0" algn="l">
              <a:lnSpc>
                <a:spcPct val="115000"/>
              </a:lnSpc>
              <a:spcBef>
                <a:spcPts val="1200"/>
              </a:spcBef>
              <a:spcAft>
                <a:spcPts val="0"/>
              </a:spcAft>
              <a:buNone/>
            </a:pPr>
            <a:r>
              <a:rPr lang="en-IN" sz="1900">
                <a:solidFill>
                  <a:schemeClr val="dk1"/>
                </a:solidFill>
              </a:rPr>
              <a:t>The system enables cross-domain knowledge exploration by identifying relationships between distinct research areas, thereby assisting users in understanding how concepts, techniques, or methodologies from one domain may be transferable to another.</a:t>
            </a:r>
            <a:endParaRPr sz="1900">
              <a:solidFill>
                <a:schemeClr val="dk1"/>
              </a:solidFill>
            </a:endParaRPr>
          </a:p>
          <a:p>
            <a:pPr indent="0" lvl="0" marL="0" rtl="0" algn="l">
              <a:lnSpc>
                <a:spcPct val="115000"/>
              </a:lnSpc>
              <a:spcBef>
                <a:spcPts val="1200"/>
              </a:spcBef>
              <a:spcAft>
                <a:spcPts val="0"/>
              </a:spcAft>
              <a:buNone/>
            </a:pPr>
            <a:r>
              <a:t/>
            </a:r>
            <a:endParaRPr sz="1900">
              <a:solidFill>
                <a:schemeClr val="dk1"/>
              </a:solidFill>
            </a:endParaRPr>
          </a:p>
          <a:p>
            <a:pPr indent="0" lvl="0" marL="0" rtl="0" algn="l">
              <a:lnSpc>
                <a:spcPct val="115000"/>
              </a:lnSpc>
              <a:spcBef>
                <a:spcPts val="1800"/>
              </a:spcBef>
              <a:spcAft>
                <a:spcPts val="0"/>
              </a:spcAft>
              <a:buNone/>
            </a:pPr>
            <a:r>
              <a:rPr b="1" i="1" lang="en-IN" sz="1900">
                <a:solidFill>
                  <a:schemeClr val="dk1"/>
                </a:solidFill>
              </a:rPr>
              <a:t>Potential Extensions</a:t>
            </a:r>
            <a:endParaRPr b="1" i="1" sz="1900">
              <a:solidFill>
                <a:schemeClr val="dk1"/>
              </a:solidFill>
            </a:endParaRPr>
          </a:p>
          <a:p>
            <a:pPr indent="0" lvl="0" marL="0" rtl="0" algn="l">
              <a:lnSpc>
                <a:spcPct val="115000"/>
              </a:lnSpc>
              <a:spcBef>
                <a:spcPts val="1200"/>
              </a:spcBef>
              <a:spcAft>
                <a:spcPts val="0"/>
              </a:spcAft>
              <a:buNone/>
            </a:pPr>
            <a:r>
              <a:rPr lang="en-IN" sz="1900">
                <a:solidFill>
                  <a:schemeClr val="dk1"/>
                </a:solidFill>
              </a:rPr>
              <a:t>Future enhancements to the platform may include citation graph visualization, intelligent recommendation systems, collaborative research workspaces, real-time monitoring agents, and advanced trend forecasting capabilities for deeper analytical insights.</a:t>
            </a:r>
            <a:endParaRPr sz="1900">
              <a:solidFill>
                <a:schemeClr val="dk1"/>
              </a:solidFill>
            </a:endParaRPr>
          </a:p>
          <a:p>
            <a:pPr indent="0" lvl="0" marL="0" rtl="0" algn="l">
              <a:lnSpc>
                <a:spcPct val="115000"/>
              </a:lnSpc>
              <a:spcBef>
                <a:spcPts val="1200"/>
              </a:spcBef>
              <a:spcAft>
                <a:spcPts val="1200"/>
              </a:spcAft>
              <a:buNone/>
            </a:pPr>
            <a:r>
              <a:t/>
            </a:r>
            <a:endParaRPr b="1" i="1" sz="19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0"/>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0"/>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0"/>
          <p:cNvSpPr/>
          <p:nvPr/>
        </p:nvSpPr>
        <p:spPr>
          <a:xfrm>
            <a:off x="609600" y="391111"/>
            <a:ext cx="10972800" cy="85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rPr b="1" lang="en-IN" sz="4267">
                <a:solidFill>
                  <a:schemeClr val="dk1"/>
                </a:solidFill>
                <a:latin typeface="Calibri"/>
                <a:ea typeface="Calibri"/>
                <a:cs typeface="Calibri"/>
                <a:sym typeface="Calibri"/>
              </a:rPr>
              <a:t>Differentiation</a:t>
            </a:r>
            <a:endParaRPr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4267">
              <a:solidFill>
                <a:schemeClr val="dk1"/>
              </a:solidFill>
              <a:latin typeface="Calibri"/>
              <a:ea typeface="Calibri"/>
              <a:cs typeface="Calibri"/>
              <a:sym typeface="Calibri"/>
            </a:endParaRPr>
          </a:p>
        </p:txBody>
      </p:sp>
      <p:sp>
        <p:nvSpPr>
          <p:cNvPr id="289" name="Google Shape;289;p30"/>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sp>
        <p:nvSpPr>
          <p:cNvPr id="290" name="Google Shape;290;p30"/>
          <p:cNvSpPr txBox="1"/>
          <p:nvPr/>
        </p:nvSpPr>
        <p:spPr>
          <a:xfrm>
            <a:off x="845250" y="1583000"/>
            <a:ext cx="10769100" cy="508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sz="2000">
              <a:solidFill>
                <a:schemeClr val="dk1"/>
              </a:solidFill>
            </a:endParaRPr>
          </a:p>
        </p:txBody>
      </p:sp>
      <p:sp>
        <p:nvSpPr>
          <p:cNvPr id="291" name="Google Shape;291;p30"/>
          <p:cNvSpPr txBox="1"/>
          <p:nvPr/>
        </p:nvSpPr>
        <p:spPr>
          <a:xfrm>
            <a:off x="642025" y="1272081"/>
            <a:ext cx="11240400" cy="488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IN" sz="1900">
                <a:solidFill>
                  <a:schemeClr val="dk1"/>
                </a:solidFill>
              </a:rPr>
              <a:t>What Makes PRISM Different</a:t>
            </a:r>
            <a:endParaRPr b="1" sz="1900">
              <a:solidFill>
                <a:schemeClr val="dk1"/>
              </a:solidFill>
            </a:endParaRPr>
          </a:p>
          <a:p>
            <a:pPr indent="0" lvl="0" marL="0" rtl="0" algn="l">
              <a:lnSpc>
                <a:spcPct val="115000"/>
              </a:lnSpc>
              <a:spcBef>
                <a:spcPts val="1200"/>
              </a:spcBef>
              <a:spcAft>
                <a:spcPts val="0"/>
              </a:spcAft>
              <a:buNone/>
            </a:pPr>
            <a:r>
              <a:rPr lang="en-IN" sz="1900">
                <a:solidFill>
                  <a:schemeClr val="dk1"/>
                </a:solidFill>
              </a:rPr>
              <a:t>While many existing research platforms primarily emphasize information retrieval, PRISM is designed to provide a broader analytical framework that supports aggregation, structured analysis, explainable ranking, and cross-source comparison within a unified system.</a:t>
            </a:r>
            <a:endParaRPr sz="1900">
              <a:solidFill>
                <a:schemeClr val="dk1"/>
              </a:solidFill>
            </a:endParaRPr>
          </a:p>
          <a:p>
            <a:pPr indent="0" lvl="0" marL="0" rtl="0" algn="l">
              <a:lnSpc>
                <a:spcPct val="115000"/>
              </a:lnSpc>
              <a:spcBef>
                <a:spcPts val="1800"/>
              </a:spcBef>
              <a:spcAft>
                <a:spcPts val="0"/>
              </a:spcAft>
              <a:buNone/>
            </a:pPr>
            <a:r>
              <a:rPr b="1" lang="en-IN" sz="1900">
                <a:solidFill>
                  <a:schemeClr val="dk1"/>
                </a:solidFill>
              </a:rPr>
              <a:t>Key Differentiators</a:t>
            </a:r>
            <a:endParaRPr b="1" sz="1900">
              <a:solidFill>
                <a:schemeClr val="dk1"/>
              </a:solidFill>
            </a:endParaRPr>
          </a:p>
          <a:p>
            <a:pPr indent="-349250" lvl="0" marL="457200" rtl="0" algn="l">
              <a:lnSpc>
                <a:spcPct val="115000"/>
              </a:lnSpc>
              <a:spcBef>
                <a:spcPts val="1400"/>
              </a:spcBef>
              <a:spcAft>
                <a:spcPts val="0"/>
              </a:spcAft>
              <a:buClr>
                <a:schemeClr val="dk1"/>
              </a:buClr>
              <a:buSzPts val="1900"/>
              <a:buChar char="●"/>
            </a:pPr>
            <a:r>
              <a:rPr b="1" lang="en-IN" sz="1900">
                <a:solidFill>
                  <a:schemeClr val="dk1"/>
                </a:solidFill>
              </a:rPr>
              <a:t>Multi-Engine Scoring</a:t>
            </a:r>
            <a:endParaRPr b="1" sz="1900">
              <a:solidFill>
                <a:schemeClr val="dk1"/>
              </a:solidFill>
            </a:endParaRPr>
          </a:p>
          <a:p>
            <a:pPr indent="0" lvl="0" marL="914400" rtl="0" algn="l">
              <a:lnSpc>
                <a:spcPct val="115000"/>
              </a:lnSpc>
              <a:spcBef>
                <a:spcPts val="1200"/>
              </a:spcBef>
              <a:spcAft>
                <a:spcPts val="0"/>
              </a:spcAft>
              <a:buNone/>
            </a:pPr>
            <a:r>
              <a:rPr lang="en-IN" sz="1900">
                <a:solidFill>
                  <a:schemeClr val="dk1"/>
                </a:solidFill>
              </a:rPr>
              <a:t>PRISM evaluates research artifacts using multiple independent scoring dimensions rather than relying solely on a single popularity-based metric. This enables a more balanced and interpretable assessment of relevance, impact, and technical significance.</a:t>
            </a:r>
            <a:endParaRPr sz="1900">
              <a:solidFill>
                <a:schemeClr val="dk1"/>
              </a:solidFill>
            </a:endParaRPr>
          </a:p>
          <a:p>
            <a:pPr indent="-349250" lvl="0" marL="457200" rtl="0" algn="l">
              <a:lnSpc>
                <a:spcPct val="115000"/>
              </a:lnSpc>
              <a:spcBef>
                <a:spcPts val="1400"/>
              </a:spcBef>
              <a:spcAft>
                <a:spcPts val="0"/>
              </a:spcAft>
              <a:buClr>
                <a:schemeClr val="dk1"/>
              </a:buClr>
              <a:buSzPts val="1900"/>
              <a:buChar char="●"/>
            </a:pPr>
            <a:r>
              <a:rPr b="1" lang="en-IN" sz="1900">
                <a:solidFill>
                  <a:schemeClr val="dk1"/>
                </a:solidFill>
              </a:rPr>
              <a:t>Multi-Source Linking</a:t>
            </a:r>
            <a:endParaRPr b="1" sz="1900">
              <a:solidFill>
                <a:schemeClr val="dk1"/>
              </a:solidFill>
            </a:endParaRPr>
          </a:p>
          <a:p>
            <a:pPr indent="0" lvl="0" marL="914400" rtl="0" algn="l">
              <a:lnSpc>
                <a:spcPct val="115000"/>
              </a:lnSpc>
              <a:spcBef>
                <a:spcPts val="1200"/>
              </a:spcBef>
              <a:spcAft>
                <a:spcPts val="1200"/>
              </a:spcAft>
              <a:buNone/>
            </a:pPr>
            <a:r>
              <a:rPr lang="en-IN" sz="1900">
                <a:solidFill>
                  <a:schemeClr val="dk1"/>
                </a:solidFill>
              </a:rPr>
              <a:t>T</a:t>
            </a:r>
            <a:r>
              <a:rPr lang="en-IN" sz="1900">
                <a:solidFill>
                  <a:schemeClr val="dk1"/>
                </a:solidFill>
              </a:rPr>
              <a:t>he platform integrates papers, repositories, models, and additional technical indicators into a connected workflow, allowing users to analyze relationships across multiple forms of research evidence and implementation resources.</a:t>
            </a:r>
            <a:endParaRPr sz="19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1"/>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1"/>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1"/>
          <p:cNvSpPr/>
          <p:nvPr/>
        </p:nvSpPr>
        <p:spPr>
          <a:xfrm>
            <a:off x="609600" y="391111"/>
            <a:ext cx="10972800" cy="85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rPr b="1" lang="en-IN" sz="4267">
                <a:solidFill>
                  <a:schemeClr val="dk1"/>
                </a:solidFill>
                <a:latin typeface="Calibri"/>
                <a:ea typeface="Calibri"/>
                <a:cs typeface="Calibri"/>
                <a:sym typeface="Calibri"/>
              </a:rPr>
              <a:t>Differentiation</a:t>
            </a:r>
            <a:endParaRPr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4267">
              <a:solidFill>
                <a:schemeClr val="dk1"/>
              </a:solidFill>
              <a:latin typeface="Calibri"/>
              <a:ea typeface="Calibri"/>
              <a:cs typeface="Calibri"/>
              <a:sym typeface="Calibri"/>
            </a:endParaRPr>
          </a:p>
        </p:txBody>
      </p:sp>
      <p:sp>
        <p:nvSpPr>
          <p:cNvPr id="300" name="Google Shape;300;p31"/>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sp>
        <p:nvSpPr>
          <p:cNvPr id="301" name="Google Shape;301;p31"/>
          <p:cNvSpPr txBox="1"/>
          <p:nvPr/>
        </p:nvSpPr>
        <p:spPr>
          <a:xfrm>
            <a:off x="845250" y="1583000"/>
            <a:ext cx="10769100" cy="508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sz="2000">
              <a:solidFill>
                <a:schemeClr val="dk1"/>
              </a:solidFill>
            </a:endParaRPr>
          </a:p>
        </p:txBody>
      </p:sp>
      <p:sp>
        <p:nvSpPr>
          <p:cNvPr id="302" name="Google Shape;302;p31"/>
          <p:cNvSpPr txBox="1"/>
          <p:nvPr/>
        </p:nvSpPr>
        <p:spPr>
          <a:xfrm>
            <a:off x="642025" y="1272081"/>
            <a:ext cx="11240400" cy="4888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1400"/>
              </a:spcBef>
              <a:spcAft>
                <a:spcPts val="0"/>
              </a:spcAft>
              <a:buClr>
                <a:schemeClr val="dk1"/>
              </a:buClr>
              <a:buSzPts val="1800"/>
              <a:buChar char="●"/>
            </a:pPr>
            <a:r>
              <a:rPr b="1" lang="en-IN" sz="1800">
                <a:solidFill>
                  <a:schemeClr val="dk1"/>
                </a:solidFill>
              </a:rPr>
              <a:t>Explainability</a:t>
            </a:r>
            <a:endParaRPr b="1" sz="1800">
              <a:solidFill>
                <a:schemeClr val="dk1"/>
              </a:solidFill>
            </a:endParaRPr>
          </a:p>
          <a:p>
            <a:pPr indent="0" lvl="0" marL="914400" rtl="0" algn="l">
              <a:lnSpc>
                <a:spcPct val="115000"/>
              </a:lnSpc>
              <a:spcBef>
                <a:spcPts val="1200"/>
              </a:spcBef>
              <a:spcAft>
                <a:spcPts val="0"/>
              </a:spcAft>
              <a:buNone/>
            </a:pPr>
            <a:r>
              <a:rPr lang="en-IN" sz="1800">
                <a:solidFill>
                  <a:schemeClr val="dk1"/>
                </a:solidFill>
              </a:rPr>
              <a:t>Instead of presenting only final rankings, PRISM provides transparent score breakdowns and supporting evidence, enabling users to understand the reasoning behind recommendations and analytical outcomes.</a:t>
            </a:r>
            <a:endParaRPr sz="1800">
              <a:solidFill>
                <a:schemeClr val="dk1"/>
              </a:solidFill>
            </a:endParaRPr>
          </a:p>
          <a:p>
            <a:pPr indent="-342900" lvl="0" marL="457200" rtl="0" algn="l">
              <a:lnSpc>
                <a:spcPct val="115000"/>
              </a:lnSpc>
              <a:spcBef>
                <a:spcPts val="1400"/>
              </a:spcBef>
              <a:spcAft>
                <a:spcPts val="0"/>
              </a:spcAft>
              <a:buClr>
                <a:schemeClr val="dk1"/>
              </a:buClr>
              <a:buSzPts val="1800"/>
              <a:buChar char="●"/>
            </a:pPr>
            <a:r>
              <a:rPr b="1" lang="en-IN" sz="1800">
                <a:solidFill>
                  <a:schemeClr val="dk1"/>
                </a:solidFill>
              </a:rPr>
              <a:t>Modular Architecture</a:t>
            </a:r>
            <a:endParaRPr b="1" sz="1800">
              <a:solidFill>
                <a:schemeClr val="dk1"/>
              </a:solidFill>
            </a:endParaRPr>
          </a:p>
          <a:p>
            <a:pPr indent="0" lvl="0" marL="914400" rtl="0" algn="l">
              <a:lnSpc>
                <a:spcPct val="115000"/>
              </a:lnSpc>
              <a:spcBef>
                <a:spcPts val="1200"/>
              </a:spcBef>
              <a:spcAft>
                <a:spcPts val="0"/>
              </a:spcAft>
              <a:buNone/>
            </a:pPr>
            <a:r>
              <a:rPr lang="en-IN" sz="1800">
                <a:solidFill>
                  <a:schemeClr val="dk1"/>
                </a:solidFill>
              </a:rPr>
              <a:t>The system follows an adapter-based modular architecture, making it extensible and allowing new data sources, scoring engines, and analytical modules to be integrated with minimal structural changes.</a:t>
            </a:r>
            <a:endParaRPr sz="1800">
              <a:solidFill>
                <a:schemeClr val="dk1"/>
              </a:solidFill>
            </a:endParaRPr>
          </a:p>
          <a:p>
            <a:pPr indent="0" lvl="0" marL="0" rtl="0" algn="l">
              <a:lnSpc>
                <a:spcPct val="115000"/>
              </a:lnSpc>
              <a:spcBef>
                <a:spcPts val="1200"/>
              </a:spcBef>
              <a:spcAft>
                <a:spcPts val="0"/>
              </a:spcAft>
              <a:buNone/>
            </a:pPr>
            <a:r>
              <a:rPr b="1" lang="en-IN" sz="1800">
                <a:solidFill>
                  <a:schemeClr val="dk1"/>
                </a:solidFill>
              </a:rPr>
              <a:t>Practical Design Decisions:</a:t>
            </a:r>
            <a:endParaRPr b="1"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IN" sz="1800">
                <a:solidFill>
                  <a:schemeClr val="dk1"/>
                </a:solidFill>
              </a:rPr>
              <a:t>Offline fallback support for improved reliability</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Mock demonstration signals for testing and evaluation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Deterministic scoring mechanisms for reproducible outputs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IN" sz="1800">
                <a:solidFill>
                  <a:schemeClr val="dk1"/>
                </a:solidFill>
              </a:rPr>
              <a:t>Modular API-based integration layers for extensibility and flexibility</a:t>
            </a:r>
            <a:endParaRPr sz="1800">
              <a:solidFill>
                <a:schemeClr val="dk1"/>
              </a:solidFill>
            </a:endParaRPr>
          </a:p>
          <a:p>
            <a:pPr indent="0" lvl="0" marL="457200" rtl="0" algn="l">
              <a:lnSpc>
                <a:spcPct val="115000"/>
              </a:lnSpc>
              <a:spcBef>
                <a:spcPts val="1200"/>
              </a:spcBef>
              <a:spcAft>
                <a:spcPts val="0"/>
              </a:spcAft>
              <a:buNone/>
            </a:pPr>
            <a:r>
              <a:t/>
            </a:r>
            <a:endParaRPr sz="1800">
              <a:solidFill>
                <a:schemeClr val="dk1"/>
              </a:solidFill>
            </a:endParaRPr>
          </a:p>
          <a:p>
            <a:pPr indent="0" lvl="0" marL="0" rtl="0" algn="l">
              <a:lnSpc>
                <a:spcPct val="115000"/>
              </a:lnSpc>
              <a:spcBef>
                <a:spcPts val="1200"/>
              </a:spcBef>
              <a:spcAft>
                <a:spcPts val="1200"/>
              </a:spcAft>
              <a:buNone/>
            </a:pPr>
            <a:r>
              <a:t/>
            </a:r>
            <a:endParaRPr b="1" sz="1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2"/>
          <p:cNvSpPr/>
          <p:nvPr/>
        </p:nvSpPr>
        <p:spPr>
          <a:xfrm>
            <a:off x="0" y="0"/>
            <a:ext cx="12192000" cy="85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2"/>
          <p:cNvSpPr/>
          <p:nvPr/>
        </p:nvSpPr>
        <p:spPr>
          <a:xfrm>
            <a:off x="609600" y="219450"/>
            <a:ext cx="11240400" cy="341400"/>
          </a:xfrm>
          <a:prstGeom prst="rect">
            <a:avLst/>
          </a:prstGeom>
          <a:solidFill>
            <a:srgbClr val="0077A8"/>
          </a:solidFill>
          <a:ln cap="flat" cmpd="sng" w="12700">
            <a:solidFill>
              <a:srgbClr val="007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2"/>
          <p:cNvSpPr/>
          <p:nvPr/>
        </p:nvSpPr>
        <p:spPr>
          <a:xfrm>
            <a:off x="609600" y="391111"/>
            <a:ext cx="10972800" cy="85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rPr b="1" lang="en-IN" sz="4267">
                <a:solidFill>
                  <a:schemeClr val="dk1"/>
                </a:solidFill>
                <a:latin typeface="Calibri"/>
                <a:ea typeface="Calibri"/>
                <a:cs typeface="Calibri"/>
                <a:sym typeface="Calibri"/>
              </a:rPr>
              <a:t>Demo Link</a:t>
            </a:r>
            <a:endParaRPr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rtl="0" algn="l">
              <a:spcBef>
                <a:spcPts val="0"/>
              </a:spcBef>
              <a:spcAft>
                <a:spcPts val="0"/>
              </a:spcAft>
              <a:buNone/>
            </a:pPr>
            <a:r>
              <a:t/>
            </a:r>
            <a:endParaRPr b="1" sz="4267">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4267">
              <a:solidFill>
                <a:schemeClr val="dk1"/>
              </a:solidFill>
              <a:latin typeface="Calibri"/>
              <a:ea typeface="Calibri"/>
              <a:cs typeface="Calibri"/>
              <a:sym typeface="Calibri"/>
            </a:endParaRPr>
          </a:p>
        </p:txBody>
      </p:sp>
      <p:sp>
        <p:nvSpPr>
          <p:cNvPr id="311" name="Google Shape;311;p32"/>
          <p:cNvSpPr txBox="1"/>
          <p:nvPr/>
        </p:nvSpPr>
        <p:spPr>
          <a:xfrm>
            <a:off x="1307795" y="63202"/>
            <a:ext cx="9489600" cy="59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IN" sz="2800">
                <a:solidFill>
                  <a:schemeClr val="lt1"/>
                </a:solidFill>
                <a:latin typeface="Overlock"/>
                <a:ea typeface="Overlock"/>
                <a:cs typeface="Overlock"/>
                <a:sym typeface="Overlock"/>
              </a:rPr>
              <a:t>Full-Stack Research Intelligence Dashboard</a:t>
            </a:r>
            <a:endParaRPr sz="200">
              <a:solidFill>
                <a:schemeClr val="lt1"/>
              </a:solidFill>
            </a:endParaRPr>
          </a:p>
        </p:txBody>
      </p:sp>
      <p:sp>
        <p:nvSpPr>
          <p:cNvPr id="312" name="Google Shape;312;p32"/>
          <p:cNvSpPr txBox="1"/>
          <p:nvPr/>
        </p:nvSpPr>
        <p:spPr>
          <a:xfrm>
            <a:off x="845250" y="1583000"/>
            <a:ext cx="10769100" cy="508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sz="2000">
              <a:solidFill>
                <a:schemeClr val="dk1"/>
              </a:solidFill>
            </a:endParaRPr>
          </a:p>
        </p:txBody>
      </p:sp>
      <p:sp>
        <p:nvSpPr>
          <p:cNvPr id="313" name="Google Shape;313;p32"/>
          <p:cNvSpPr txBox="1"/>
          <p:nvPr/>
        </p:nvSpPr>
        <p:spPr>
          <a:xfrm>
            <a:off x="642025" y="1272081"/>
            <a:ext cx="11240400" cy="488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IN" sz="2600">
                <a:solidFill>
                  <a:schemeClr val="dk1"/>
                </a:solidFill>
              </a:rPr>
              <a:t>Github Repo:</a:t>
            </a:r>
            <a:r>
              <a:rPr lang="en-IN" sz="2600">
                <a:solidFill>
                  <a:schemeClr val="dk1"/>
                </a:solidFill>
              </a:rPr>
              <a:t>  https://github.com/SmaranNadig/openclawhackathon.git</a:t>
            </a:r>
            <a:endParaRPr sz="2600">
              <a:solidFill>
                <a:schemeClr val="dk1"/>
              </a:solidFill>
            </a:endParaRPr>
          </a:p>
          <a:p>
            <a:pPr indent="0" lvl="0" marL="0" rtl="0" algn="l">
              <a:lnSpc>
                <a:spcPct val="115000"/>
              </a:lnSpc>
              <a:spcBef>
                <a:spcPts val="1200"/>
              </a:spcBef>
              <a:spcAft>
                <a:spcPts val="0"/>
              </a:spcAft>
              <a:buNone/>
            </a:pPr>
            <a:r>
              <a:t/>
            </a:r>
            <a:endParaRPr b="1" sz="2600">
              <a:solidFill>
                <a:schemeClr val="dk1"/>
              </a:solidFill>
            </a:endParaRPr>
          </a:p>
          <a:p>
            <a:pPr indent="0" lvl="0" marL="0" rtl="0" algn="l">
              <a:lnSpc>
                <a:spcPct val="115000"/>
              </a:lnSpc>
              <a:spcBef>
                <a:spcPts val="1200"/>
              </a:spcBef>
              <a:spcAft>
                <a:spcPts val="0"/>
              </a:spcAft>
              <a:buNone/>
            </a:pPr>
            <a:r>
              <a:rPr b="1" lang="en-IN" sz="2600">
                <a:solidFill>
                  <a:schemeClr val="dk1"/>
                </a:solidFill>
              </a:rPr>
              <a:t>Video Link : </a:t>
            </a:r>
            <a:br>
              <a:rPr b="1" lang="en-IN" sz="2600">
                <a:solidFill>
                  <a:schemeClr val="dk1"/>
                </a:solidFill>
              </a:rPr>
            </a:br>
            <a:r>
              <a:rPr lang="en-IN" sz="2600" u="sng">
                <a:solidFill>
                  <a:schemeClr val="hlink"/>
                </a:solidFill>
                <a:hlinkClick r:id="rId3"/>
              </a:rPr>
              <a:t>https://drive.google.com/file/d/1Aa865vZT10bvfQaSYPnY8jEtyCLHJ0ZA/view?usp=drivesdk</a:t>
            </a:r>
            <a:endParaRPr sz="2600">
              <a:solidFill>
                <a:schemeClr val="dk1"/>
              </a:solidFill>
            </a:endParaRPr>
          </a:p>
          <a:p>
            <a:pPr indent="0" lvl="0" marL="0" rtl="0" algn="l">
              <a:lnSpc>
                <a:spcPct val="115000"/>
              </a:lnSpc>
              <a:spcBef>
                <a:spcPts val="1200"/>
              </a:spcBef>
              <a:spcAft>
                <a:spcPts val="0"/>
              </a:spcAft>
              <a:buNone/>
            </a:pPr>
            <a:r>
              <a:t/>
            </a:r>
            <a:endParaRPr sz="2600">
              <a:solidFill>
                <a:schemeClr val="dk1"/>
              </a:solidFill>
            </a:endParaRPr>
          </a:p>
          <a:p>
            <a:pPr indent="0" lvl="0" marL="0" rtl="0" algn="l">
              <a:lnSpc>
                <a:spcPct val="115000"/>
              </a:lnSpc>
              <a:spcBef>
                <a:spcPts val="1200"/>
              </a:spcBef>
              <a:spcAft>
                <a:spcPts val="0"/>
              </a:spcAft>
              <a:buNone/>
            </a:pPr>
            <a:r>
              <a:rPr b="1" lang="en-IN" sz="2600">
                <a:solidFill>
                  <a:schemeClr val="dk1"/>
                </a:solidFill>
              </a:rPr>
              <a:t>Document submitted:</a:t>
            </a:r>
            <a:br>
              <a:rPr lang="en-IN" sz="2600">
                <a:solidFill>
                  <a:schemeClr val="dk1"/>
                </a:solidFill>
              </a:rPr>
            </a:br>
            <a:r>
              <a:rPr lang="en-IN" sz="2600">
                <a:solidFill>
                  <a:schemeClr val="dk1"/>
                </a:solidFill>
              </a:rPr>
              <a:t>https://drive.google.com/file/d/1EzH9WiTC--oTVELWRN55V--h83zvthMX/view?usp=sharing</a:t>
            </a:r>
            <a:endParaRPr sz="2600">
              <a:solidFill>
                <a:schemeClr val="dk1"/>
              </a:solidFill>
            </a:endParaRPr>
          </a:p>
          <a:p>
            <a:pPr indent="0" lvl="0" marL="0" rtl="0" algn="l">
              <a:lnSpc>
                <a:spcPct val="115000"/>
              </a:lnSpc>
              <a:spcBef>
                <a:spcPts val="1200"/>
              </a:spcBef>
              <a:spcAft>
                <a:spcPts val="1200"/>
              </a:spcAft>
              <a:buNone/>
            </a:pPr>
            <a:r>
              <a:t/>
            </a:r>
            <a:endParaRPr sz="26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